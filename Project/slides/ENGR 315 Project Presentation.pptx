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Robo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B482B62-7C31-42FF-9441-0228332F6854}">
  <a:tblStyle styleId="{5B482B62-7C31-42FF-9441-0228332F685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italic.fntdata"/><Relationship Id="rId14" Type="http://schemas.openxmlformats.org/officeDocument/2006/relationships/slide" Target="slides/slide8.xml"/><Relationship Id="rId36" Type="http://schemas.openxmlformats.org/officeDocument/2006/relationships/font" Target="fonts/Roboto-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Robot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talog.data.gov/dataset/baby-names-from-social-security-card-applications-national-data?from_hint=eyJzb3J0IjoicG9wdWxhcml0eSJ9"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https://catalog.data.gov/dataset/baby-names-from-social-security-card-applications-national-data?from_hint=eyJzb3J0IjoicG9wdWxhcml0eSJ9</a:t>
            </a:r>
            <a:r>
              <a:rPr lang="en"/>
              <a:t> </a:t>
            </a:r>
            <a:r>
              <a:rPr lang="en">
                <a:solidFill>
                  <a:schemeClr val="dk1"/>
                </a:solidFill>
              </a:rPr>
              <a:t>Philip</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75d44d7db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75d44d7db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Philip</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b72199e4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db72199e4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Philip</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b72199e4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b72199e4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b72199e4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b72199e4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db72199e4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db72199e4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b7d405e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b7d405e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b7d405e7d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db7d405e7d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75d44d7db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75d44d7db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Chris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75d44d7db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75d44d7db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75d44d7db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75d44d7db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XXXXXX</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b72199e4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b72199e4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b72199e4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db72199e4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b72199e4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db72199e4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9a8613c79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9a8613c79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philip</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be5e3dcc4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dbe5e3dcc4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Philip</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be5e3dcc4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dbe5e3dcc4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Philip</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a8613c79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9a8613c79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chris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dc0bf70828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dc0bf70828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chris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c0bf70828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dc0bf70828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chris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be5e3dcc4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dbe5e3dcc4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chris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9a8613c7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9a8613c7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chris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dc0bf7082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dc0bf7082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chris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c27defaf9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dc27defaf9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c27defaf9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dc27defaf9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dc27defaf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dc27defaf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c27defaf9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dc27defaf9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Haden</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dc27defaf9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dc27defaf9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Haden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catalog.data.gov/dataset/baby-names-from-social-security-card-applications-national-data?from_hint=eyJzb3J0IjoicG9wdWxhcml0eSJ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3580"/>
              <a:t>Diversity</a:t>
            </a:r>
            <a:r>
              <a:rPr lang="en" sz="3580"/>
              <a:t> of baby names through history</a:t>
            </a:r>
            <a:endParaRPr sz="3580"/>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solidFill>
                  <a:srgbClr val="F06292"/>
                </a:solidFill>
              </a:rPr>
              <a:t>Philip Breen, Christopher Chirasello, Haden MacDougall</a:t>
            </a:r>
            <a:endParaRPr>
              <a:solidFill>
                <a:srgbClr val="F06292"/>
              </a:solidFill>
            </a:endParaRPr>
          </a:p>
        </p:txBody>
      </p:sp>
      <p:sp>
        <p:nvSpPr>
          <p:cNvPr id="87" name="Google Shape;87;p13"/>
          <p:cNvSpPr txBox="1"/>
          <p:nvPr/>
        </p:nvSpPr>
        <p:spPr>
          <a:xfrm>
            <a:off x="784900" y="3829375"/>
            <a:ext cx="7115700" cy="7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Roboto"/>
              <a:ea typeface="Roboto"/>
              <a:cs typeface="Roboto"/>
              <a:sym typeface="Roboto"/>
            </a:endParaRPr>
          </a:p>
        </p:txBody>
      </p:sp>
      <p:sp>
        <p:nvSpPr>
          <p:cNvPr id="88" name="Google Shape;88;p13"/>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 Set</a:t>
            </a:r>
            <a:endParaRPr b="1"/>
          </a:p>
        </p:txBody>
      </p:sp>
      <p:sp>
        <p:nvSpPr>
          <p:cNvPr id="94" name="Google Shape;94;p1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600">
                <a:solidFill>
                  <a:schemeClr val="accent1"/>
                </a:solidFill>
              </a:rPr>
              <a:t>Baby Names from Social Security Card Applications - National Data</a:t>
            </a:r>
            <a:endParaRPr b="1" sz="1600">
              <a:solidFill>
                <a:schemeClr val="accent1"/>
              </a:solidFill>
            </a:endParaRPr>
          </a:p>
          <a:p>
            <a:pPr indent="0" lvl="0" marL="0" rtl="0" algn="l">
              <a:spcBef>
                <a:spcPts val="1200"/>
              </a:spcBef>
              <a:spcAft>
                <a:spcPts val="0"/>
              </a:spcAft>
              <a:buNone/>
            </a:pPr>
            <a:r>
              <a:rPr lang="en" sz="1100">
                <a:solidFill>
                  <a:srgbClr val="000000"/>
                </a:solidFill>
              </a:rPr>
              <a:t>Records of baby names, gender, and frequency by year.</a:t>
            </a:r>
            <a:endParaRPr b="1" sz="1600">
              <a:solidFill>
                <a:schemeClr val="accent1"/>
              </a:solidFill>
            </a:endParaRPr>
          </a:p>
          <a:p>
            <a:pPr indent="-298450" lvl="0" marL="457200" rtl="0" algn="l">
              <a:lnSpc>
                <a:spcPct val="115000"/>
              </a:lnSpc>
              <a:spcBef>
                <a:spcPts val="1200"/>
              </a:spcBef>
              <a:spcAft>
                <a:spcPts val="0"/>
              </a:spcAft>
              <a:buClr>
                <a:srgbClr val="000000"/>
              </a:buClr>
              <a:buSzPts val="1100"/>
              <a:buFont typeface="Arial"/>
              <a:buChar char="●"/>
            </a:pPr>
            <a:r>
              <a:rPr b="1" lang="en" sz="1100">
                <a:solidFill>
                  <a:srgbClr val="000000"/>
                </a:solidFill>
              </a:rPr>
              <a:t>Source:</a:t>
            </a:r>
            <a:r>
              <a:rPr lang="en" sz="1100">
                <a:solidFill>
                  <a:srgbClr val="000000"/>
                </a:solidFill>
              </a:rPr>
              <a:t> </a:t>
            </a:r>
            <a:endParaRPr sz="1100">
              <a:solidFill>
                <a:srgbClr val="000000"/>
              </a:solidFill>
            </a:endParaRPr>
          </a:p>
          <a:p>
            <a:pPr indent="-298450" lvl="1" marL="914400" rtl="0" algn="l">
              <a:lnSpc>
                <a:spcPct val="115000"/>
              </a:lnSpc>
              <a:spcBef>
                <a:spcPts val="0"/>
              </a:spcBef>
              <a:spcAft>
                <a:spcPts val="0"/>
              </a:spcAft>
              <a:buClr>
                <a:srgbClr val="000000"/>
              </a:buClr>
              <a:buSzPts val="1100"/>
              <a:buFont typeface="Roboto"/>
              <a:buChar char="○"/>
            </a:pPr>
            <a:r>
              <a:rPr lang="en" sz="1100">
                <a:solidFill>
                  <a:srgbClr val="000000"/>
                </a:solidFill>
              </a:rPr>
              <a:t>Social Security Administratio</a:t>
            </a:r>
            <a:r>
              <a:rPr lang="en" sz="1100">
                <a:solidFill>
                  <a:srgbClr val="000000"/>
                </a:solidFill>
              </a:rPr>
              <a:t>n</a:t>
            </a:r>
            <a:endParaRPr sz="1100">
              <a:solidFill>
                <a:srgbClr val="000000"/>
              </a:solidFill>
            </a:endParaRPr>
          </a:p>
          <a:p>
            <a:pPr indent="-298450" lvl="0" marL="457200" rtl="0" algn="l">
              <a:lnSpc>
                <a:spcPct val="115000"/>
              </a:lnSpc>
              <a:spcBef>
                <a:spcPts val="0"/>
              </a:spcBef>
              <a:spcAft>
                <a:spcPts val="0"/>
              </a:spcAft>
              <a:buClr>
                <a:srgbClr val="000000"/>
              </a:buClr>
              <a:buSzPts val="1100"/>
              <a:buFont typeface="Roboto"/>
              <a:buChar char="●"/>
            </a:pPr>
            <a:r>
              <a:rPr b="1" lang="en" sz="1100">
                <a:solidFill>
                  <a:srgbClr val="000000"/>
                </a:solidFill>
              </a:rPr>
              <a:t>How collected:</a:t>
            </a:r>
            <a:endParaRPr b="1" sz="1100">
              <a:solidFill>
                <a:srgbClr val="000000"/>
              </a:solidFill>
            </a:endParaRPr>
          </a:p>
          <a:p>
            <a:pPr indent="-298450" lvl="1" marL="914400" rtl="0" algn="l">
              <a:lnSpc>
                <a:spcPct val="115000"/>
              </a:lnSpc>
              <a:spcBef>
                <a:spcPts val="0"/>
              </a:spcBef>
              <a:spcAft>
                <a:spcPts val="0"/>
              </a:spcAft>
              <a:buClr>
                <a:srgbClr val="000000"/>
              </a:buClr>
              <a:buSzPts val="1100"/>
              <a:buFont typeface="Roboto"/>
              <a:buChar char="○"/>
            </a:pPr>
            <a:r>
              <a:rPr lang="en" sz="1100">
                <a:solidFill>
                  <a:srgbClr val="000000"/>
                </a:solidFill>
              </a:rPr>
              <a:t>From Social Security card applications</a:t>
            </a:r>
            <a:endParaRPr sz="1100">
              <a:solidFill>
                <a:srgbClr val="000000"/>
              </a:solidFill>
            </a:endParaRPr>
          </a:p>
          <a:p>
            <a:pPr indent="-298450" lvl="0" marL="457200" rtl="0" algn="l">
              <a:lnSpc>
                <a:spcPct val="115000"/>
              </a:lnSpc>
              <a:spcBef>
                <a:spcPts val="0"/>
              </a:spcBef>
              <a:spcAft>
                <a:spcPts val="0"/>
              </a:spcAft>
              <a:buClr>
                <a:srgbClr val="000000"/>
              </a:buClr>
              <a:buSzPts val="1100"/>
              <a:buFont typeface="Roboto"/>
              <a:buChar char="●"/>
            </a:pPr>
            <a:r>
              <a:rPr b="1" lang="en" sz="1100">
                <a:solidFill>
                  <a:srgbClr val="000000"/>
                </a:solidFill>
              </a:rPr>
              <a:t>Why collected:</a:t>
            </a:r>
            <a:endParaRPr b="1" sz="1100">
              <a:solidFill>
                <a:srgbClr val="000000"/>
              </a:solidFill>
            </a:endParaRPr>
          </a:p>
          <a:p>
            <a:pPr indent="-298450" lvl="1" marL="914400" rtl="0" algn="l">
              <a:lnSpc>
                <a:spcPct val="115000"/>
              </a:lnSpc>
              <a:spcBef>
                <a:spcPts val="0"/>
              </a:spcBef>
              <a:spcAft>
                <a:spcPts val="0"/>
              </a:spcAft>
              <a:buClr>
                <a:srgbClr val="000000"/>
              </a:buClr>
              <a:buSzPts val="1100"/>
              <a:buFont typeface="Roboto"/>
              <a:buChar char="○"/>
            </a:pPr>
            <a:r>
              <a:rPr lang="en" sz="1100">
                <a:solidFill>
                  <a:srgbClr val="000000"/>
                </a:solidFill>
              </a:rPr>
              <a:t>Track population + naming trends</a:t>
            </a:r>
            <a:endParaRPr sz="1100">
              <a:solidFill>
                <a:srgbClr val="000000"/>
              </a:solidFill>
            </a:endParaRPr>
          </a:p>
          <a:p>
            <a:pPr indent="-298450" lvl="0" marL="457200" rtl="0" algn="l">
              <a:lnSpc>
                <a:spcPct val="115000"/>
              </a:lnSpc>
              <a:spcBef>
                <a:spcPts val="0"/>
              </a:spcBef>
              <a:spcAft>
                <a:spcPts val="0"/>
              </a:spcAft>
              <a:buClr>
                <a:srgbClr val="000000"/>
              </a:buClr>
              <a:buSzPts val="1100"/>
              <a:buFont typeface="Roboto"/>
              <a:buChar char="●"/>
            </a:pPr>
            <a:r>
              <a:rPr b="1" lang="en" sz="1100">
                <a:solidFill>
                  <a:srgbClr val="000000"/>
                </a:solidFill>
              </a:rPr>
              <a:t>Useful variables:</a:t>
            </a:r>
            <a:endParaRPr b="1" sz="1100">
              <a:solidFill>
                <a:srgbClr val="000000"/>
              </a:solidFill>
            </a:endParaRPr>
          </a:p>
          <a:p>
            <a:pPr indent="-298450" lvl="1" marL="914400" rtl="0" algn="l">
              <a:lnSpc>
                <a:spcPct val="115000"/>
              </a:lnSpc>
              <a:spcBef>
                <a:spcPts val="0"/>
              </a:spcBef>
              <a:spcAft>
                <a:spcPts val="0"/>
              </a:spcAft>
              <a:buClr>
                <a:srgbClr val="000000"/>
              </a:buClr>
              <a:buSzPts val="1100"/>
              <a:buFont typeface="Roboto"/>
              <a:buChar char="○"/>
            </a:pPr>
            <a:r>
              <a:rPr lang="en" sz="1100">
                <a:solidFill>
                  <a:srgbClr val="000000"/>
                </a:solidFill>
              </a:rPr>
              <a:t>Name</a:t>
            </a:r>
            <a:endParaRPr sz="1100">
              <a:solidFill>
                <a:srgbClr val="000000"/>
              </a:solidFill>
            </a:endParaRPr>
          </a:p>
          <a:p>
            <a:pPr indent="-298450" lvl="1" marL="914400" rtl="0" algn="l">
              <a:lnSpc>
                <a:spcPct val="115000"/>
              </a:lnSpc>
              <a:spcBef>
                <a:spcPts val="0"/>
              </a:spcBef>
              <a:spcAft>
                <a:spcPts val="0"/>
              </a:spcAft>
              <a:buClr>
                <a:srgbClr val="000000"/>
              </a:buClr>
              <a:buSzPts val="1100"/>
              <a:buFont typeface="Roboto"/>
              <a:buChar char="○"/>
            </a:pPr>
            <a:r>
              <a:rPr lang="en" sz="1100">
                <a:solidFill>
                  <a:srgbClr val="000000"/>
                </a:solidFill>
              </a:rPr>
              <a:t>Year</a:t>
            </a:r>
            <a:endParaRPr sz="1100">
              <a:solidFill>
                <a:srgbClr val="000000"/>
              </a:solidFill>
            </a:endParaRPr>
          </a:p>
          <a:p>
            <a:pPr indent="-298450" lvl="1" marL="914400" rtl="0" algn="l">
              <a:lnSpc>
                <a:spcPct val="115000"/>
              </a:lnSpc>
              <a:spcBef>
                <a:spcPts val="0"/>
              </a:spcBef>
              <a:spcAft>
                <a:spcPts val="0"/>
              </a:spcAft>
              <a:buClr>
                <a:srgbClr val="000000"/>
              </a:buClr>
              <a:buSzPts val="1100"/>
              <a:buFont typeface="Roboto"/>
              <a:buChar char="○"/>
            </a:pPr>
            <a:r>
              <a:rPr lang="en" sz="1100">
                <a:solidFill>
                  <a:srgbClr val="000000"/>
                </a:solidFill>
              </a:rPr>
              <a:t>Gender</a:t>
            </a:r>
            <a:endParaRPr sz="1100">
              <a:solidFill>
                <a:srgbClr val="000000"/>
              </a:solidFill>
            </a:endParaRPr>
          </a:p>
          <a:p>
            <a:pPr indent="-298450" lvl="1" marL="914400" rtl="0" algn="l">
              <a:lnSpc>
                <a:spcPct val="115000"/>
              </a:lnSpc>
              <a:spcBef>
                <a:spcPts val="0"/>
              </a:spcBef>
              <a:spcAft>
                <a:spcPts val="0"/>
              </a:spcAft>
              <a:buClr>
                <a:srgbClr val="000000"/>
              </a:buClr>
              <a:buSzPts val="1100"/>
              <a:buFont typeface="Roboto"/>
              <a:buChar char="○"/>
            </a:pPr>
            <a:r>
              <a:rPr lang="en" sz="1100">
                <a:solidFill>
                  <a:srgbClr val="000000"/>
                </a:solidFill>
              </a:rPr>
              <a:t>Count (# of babies with that name)</a:t>
            </a:r>
            <a:endParaRPr sz="1100">
              <a:solidFill>
                <a:srgbClr val="000000"/>
              </a:solidFill>
            </a:endParaRPr>
          </a:p>
          <a:p>
            <a:pPr indent="-298450" lvl="0" marL="457200" rtl="0" algn="l">
              <a:lnSpc>
                <a:spcPct val="115000"/>
              </a:lnSpc>
              <a:spcBef>
                <a:spcPts val="0"/>
              </a:spcBef>
              <a:spcAft>
                <a:spcPts val="0"/>
              </a:spcAft>
              <a:buClr>
                <a:srgbClr val="000000"/>
              </a:buClr>
              <a:buSzPts val="1100"/>
              <a:buFont typeface="Roboto"/>
              <a:buChar char="●"/>
            </a:pPr>
            <a:r>
              <a:rPr b="1" lang="en" sz="1100">
                <a:solidFill>
                  <a:srgbClr val="000000"/>
                </a:solidFill>
              </a:rPr>
              <a:t>URL:</a:t>
            </a:r>
            <a:endParaRPr b="1" sz="1100">
              <a:solidFill>
                <a:srgbClr val="000000"/>
              </a:solidFill>
            </a:endParaRPr>
          </a:p>
          <a:p>
            <a:pPr indent="-279400" lvl="1" marL="914400" rtl="0" algn="l">
              <a:lnSpc>
                <a:spcPct val="115000"/>
              </a:lnSpc>
              <a:spcBef>
                <a:spcPts val="0"/>
              </a:spcBef>
              <a:spcAft>
                <a:spcPts val="0"/>
              </a:spcAft>
              <a:buClr>
                <a:schemeClr val="dk1"/>
              </a:buClr>
              <a:buSzPts val="800"/>
              <a:buFont typeface="Roboto"/>
              <a:buChar char="○"/>
            </a:pPr>
            <a:r>
              <a:rPr lang="en" sz="800" u="sng">
                <a:solidFill>
                  <a:schemeClr val="dk1"/>
                </a:solidFill>
                <a:hlinkClick r:id="rId3">
                  <a:extLst>
                    <a:ext uri="{A12FA001-AC4F-418D-AE19-62706E023703}">
                      <ahyp:hlinkClr val="tx"/>
                    </a:ext>
                  </a:extLst>
                </a:hlinkClick>
              </a:rPr>
              <a:t>https://catalog.data.gov/dataset/baby-names-from-social-security-card-applications-national-data?from_hint=eyJzb3J0IjoicG9wdWxhcml0eSJ9</a:t>
            </a:r>
            <a:endParaRPr b="1" sz="1300">
              <a:solidFill>
                <a:schemeClr val="dk1"/>
              </a:solidFill>
            </a:endParaRPr>
          </a:p>
        </p:txBody>
      </p:sp>
      <p:sp>
        <p:nvSpPr>
          <p:cNvPr id="95" name="Google Shape;95;p14"/>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solidFill>
                  <a:schemeClr val="accent1"/>
                </a:solidFill>
              </a:rPr>
              <a:t>We act as </a:t>
            </a:r>
            <a:r>
              <a:rPr b="1" lang="en" sz="1300">
                <a:solidFill>
                  <a:schemeClr val="accent1"/>
                </a:solidFill>
              </a:rPr>
              <a:t>baby naming </a:t>
            </a:r>
            <a:r>
              <a:rPr b="1" lang="en" sz="1300">
                <a:solidFill>
                  <a:schemeClr val="accent1"/>
                </a:solidFill>
              </a:rPr>
              <a:t>consultants helping couples choose baby names based on trends, uniqueness, and future popularity.</a:t>
            </a:r>
            <a:endParaRPr b="1" sz="1300">
              <a:solidFill>
                <a:schemeClr val="accent1"/>
              </a:solidFill>
            </a:endParaRPr>
          </a:p>
          <a:p>
            <a:pPr indent="0" lvl="0" marL="0" rtl="0" algn="l">
              <a:spcBef>
                <a:spcPts val="1200"/>
              </a:spcBef>
              <a:spcAft>
                <a:spcPts val="0"/>
              </a:spcAft>
              <a:buNone/>
            </a:pPr>
            <a:r>
              <a:t/>
            </a:r>
            <a:endParaRPr b="1" sz="1300">
              <a:solidFill>
                <a:schemeClr val="accent1"/>
              </a:solidFill>
            </a:endParaRPr>
          </a:p>
          <a:p>
            <a:pPr indent="0" lvl="0" marL="0" rtl="0" algn="l">
              <a:spcBef>
                <a:spcPts val="1200"/>
              </a:spcBef>
              <a:spcAft>
                <a:spcPts val="0"/>
              </a:spcAft>
              <a:buNone/>
            </a:pPr>
            <a:r>
              <a:rPr b="1" lang="en" sz="1100">
                <a:solidFill>
                  <a:srgbClr val="000000"/>
                </a:solidFill>
              </a:rPr>
              <a:t>Couples want a name that is:</a:t>
            </a:r>
            <a:endParaRPr b="1" sz="1100">
              <a:solidFill>
                <a:srgbClr val="000000"/>
              </a:solidFill>
            </a:endParaRPr>
          </a:p>
          <a:p>
            <a:pPr indent="-298450" lvl="0" marL="457200" rtl="0" algn="l">
              <a:spcBef>
                <a:spcPts val="1200"/>
              </a:spcBef>
              <a:spcAft>
                <a:spcPts val="0"/>
              </a:spcAft>
              <a:buClr>
                <a:srgbClr val="000000"/>
              </a:buClr>
              <a:buSzPts val="1100"/>
              <a:buChar char="●"/>
            </a:pPr>
            <a:r>
              <a:rPr lang="en" sz="1100">
                <a:solidFill>
                  <a:srgbClr val="000000"/>
                </a:solidFill>
              </a:rPr>
              <a:t>unique</a:t>
            </a: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C</a:t>
            </a:r>
            <a:r>
              <a:rPr lang="en" sz="1100">
                <a:solidFill>
                  <a:srgbClr val="000000"/>
                </a:solidFill>
              </a:rPr>
              <a:t>onventional for the time</a:t>
            </a:r>
            <a:endParaRPr sz="1100">
              <a:solidFill>
                <a:srgbClr val="000000"/>
              </a:solidFill>
            </a:endParaRPr>
          </a:p>
          <a:p>
            <a:pPr indent="-298450" lvl="0" marL="457200" rtl="0" algn="l">
              <a:spcBef>
                <a:spcPts val="0"/>
              </a:spcBef>
              <a:spcAft>
                <a:spcPts val="0"/>
              </a:spcAft>
              <a:buClr>
                <a:srgbClr val="000000"/>
              </a:buClr>
              <a:buSzPts val="1100"/>
              <a:buChar char="●"/>
            </a:pPr>
            <a:r>
              <a:rPr lang="en" sz="1100">
                <a:solidFill>
                  <a:srgbClr val="000000"/>
                </a:solidFill>
              </a:rPr>
              <a:t>Enduring and timeless</a:t>
            </a:r>
            <a:endParaRPr sz="1100">
              <a:solidFill>
                <a:srgbClr val="000000"/>
              </a:solidFill>
            </a:endParaRPr>
          </a:p>
        </p:txBody>
      </p:sp>
      <p:sp>
        <p:nvSpPr>
          <p:cNvPr id="101" name="Google Shape;101;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Real-World Application</a:t>
            </a:r>
            <a:endParaRPr b="1"/>
          </a:p>
        </p:txBody>
      </p:sp>
      <p:sp>
        <p:nvSpPr>
          <p:cNvPr id="102" name="Google Shape;102;p15"/>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000"/>
              <a:t>How do individual baby names differ in their rise, peak, and decline patterns over time?</a:t>
            </a:r>
            <a:endParaRPr b="1" sz="2000"/>
          </a:p>
        </p:txBody>
      </p:sp>
      <p:sp>
        <p:nvSpPr>
          <p:cNvPr id="108" name="Google Shape;108;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04800" lvl="0" marL="457200" rtl="0" algn="l">
              <a:spcBef>
                <a:spcPts val="1200"/>
              </a:spcBef>
              <a:spcAft>
                <a:spcPts val="0"/>
              </a:spcAft>
              <a:buClr>
                <a:srgbClr val="000000"/>
              </a:buClr>
              <a:buSzPts val="1200"/>
              <a:buChar char="●"/>
            </a:pPr>
            <a:r>
              <a:rPr b="1" lang="en" sz="1200">
                <a:solidFill>
                  <a:srgbClr val="000000"/>
                </a:solidFill>
              </a:rPr>
              <a:t>Why it is interesting:</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Shows cultural trends</a:t>
            </a:r>
            <a:endParaRPr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Shows the rise in popularity and </a:t>
            </a:r>
            <a:r>
              <a:rPr lang="en" sz="1200">
                <a:solidFill>
                  <a:srgbClr val="000000"/>
                </a:solidFill>
              </a:rPr>
              <a:t>eventually</a:t>
            </a:r>
            <a:r>
              <a:rPr lang="en" sz="1200">
                <a:solidFill>
                  <a:srgbClr val="000000"/>
                </a:solidFill>
              </a:rPr>
              <a:t> decline</a:t>
            </a:r>
            <a:endParaRPr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Over time could show waves of popular names</a:t>
            </a:r>
            <a:endParaRPr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Why it is inferential:</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Looking at patterns, not exact values</a:t>
            </a:r>
            <a:endParaRPr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Shows if a name you like is on an increase or down turn</a:t>
            </a:r>
            <a:endParaRPr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Variables:</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Year vs Name Count</a:t>
            </a:r>
            <a:endParaRPr sz="1200">
              <a:solidFill>
                <a:srgbClr val="000000"/>
              </a:solidFill>
            </a:endParaRPr>
          </a:p>
        </p:txBody>
      </p:sp>
      <p:sp>
        <p:nvSpPr>
          <p:cNvPr id="109" name="Google Shape;109;p16"/>
          <p:cNvSpPr txBox="1"/>
          <p:nvPr/>
        </p:nvSpPr>
        <p:spPr>
          <a:xfrm>
            <a:off x="5375" y="10750"/>
            <a:ext cx="1032900" cy="5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2"/>
                </a:solidFill>
                <a:latin typeface="Roboto"/>
                <a:ea typeface="Roboto"/>
                <a:cs typeface="Roboto"/>
                <a:sym typeface="Roboto"/>
              </a:rPr>
              <a:t>Q1</a:t>
            </a:r>
            <a:endParaRPr b="1" sz="1800">
              <a:solidFill>
                <a:schemeClr val="accent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300"/>
              <a:t>How has the distribution of baby names changed over time?</a:t>
            </a:r>
            <a:endParaRPr b="1" sz="2300"/>
          </a:p>
        </p:txBody>
      </p:sp>
      <p:sp>
        <p:nvSpPr>
          <p:cNvPr id="115" name="Google Shape;115;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04800" lvl="0" marL="457200" rtl="0" algn="l">
              <a:spcBef>
                <a:spcPts val="1200"/>
              </a:spcBef>
              <a:spcAft>
                <a:spcPts val="0"/>
              </a:spcAft>
              <a:buClr>
                <a:srgbClr val="000000"/>
              </a:buClr>
              <a:buSzPts val="1200"/>
              <a:buChar char="●"/>
            </a:pPr>
            <a:r>
              <a:rPr b="1" lang="en" sz="1200">
                <a:solidFill>
                  <a:srgbClr val="000000"/>
                </a:solidFill>
              </a:rPr>
              <a:t>Why interesting:</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Cultural shift toward individuality</a:t>
            </a:r>
            <a:endParaRPr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Cultural shift toward idols or popular figures</a:t>
            </a:r>
            <a:endParaRPr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Why inferential:</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Measuring spread/diversity</a:t>
            </a:r>
            <a:endParaRPr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Variables:</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Year vs number of unique names</a:t>
            </a:r>
            <a:endParaRPr sz="1200">
              <a:solidFill>
                <a:srgbClr val="000000"/>
              </a:solidFill>
            </a:endParaRPr>
          </a:p>
        </p:txBody>
      </p:sp>
      <p:sp>
        <p:nvSpPr>
          <p:cNvPr id="116" name="Google Shape;116;p17"/>
          <p:cNvSpPr txBox="1"/>
          <p:nvPr/>
        </p:nvSpPr>
        <p:spPr>
          <a:xfrm>
            <a:off x="5375" y="10750"/>
            <a:ext cx="1032900" cy="5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2"/>
                </a:solidFill>
                <a:latin typeface="Roboto"/>
                <a:ea typeface="Roboto"/>
                <a:cs typeface="Roboto"/>
                <a:sym typeface="Roboto"/>
              </a:rPr>
              <a:t>Q2</a:t>
            </a:r>
            <a:endParaRPr b="1" sz="1800">
              <a:solidFill>
                <a:schemeClr val="accent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100"/>
              <a:t>What does past trend data suggest about a name’s future popularity?</a:t>
            </a:r>
            <a:endParaRPr b="1" sz="2100"/>
          </a:p>
        </p:txBody>
      </p:sp>
      <p:sp>
        <p:nvSpPr>
          <p:cNvPr id="122" name="Google Shape;122;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04800" lvl="0" marL="457200" rtl="0" algn="l">
              <a:spcBef>
                <a:spcPts val="1200"/>
              </a:spcBef>
              <a:spcAft>
                <a:spcPts val="0"/>
              </a:spcAft>
              <a:buClr>
                <a:srgbClr val="000000"/>
              </a:buClr>
              <a:buSzPts val="1200"/>
              <a:buChar char="●"/>
            </a:pPr>
            <a:r>
              <a:rPr b="1" lang="en" sz="1200">
                <a:solidFill>
                  <a:srgbClr val="000000"/>
                </a:solidFill>
              </a:rPr>
              <a:t>Why interesting:</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Helps predict future popularity</a:t>
            </a:r>
            <a:endParaRPr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What generations do returning names come from</a:t>
            </a:r>
            <a:endParaRPr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Why inferential:</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Uses past trends to estimate future direction</a:t>
            </a:r>
            <a:endParaRPr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Variables:</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Year vs Name Count</a:t>
            </a:r>
            <a:endParaRPr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Year-to-year change (growth rate)</a:t>
            </a:r>
            <a:endParaRPr sz="1200">
              <a:solidFill>
                <a:srgbClr val="000000"/>
              </a:solidFill>
            </a:endParaRPr>
          </a:p>
        </p:txBody>
      </p:sp>
      <p:sp>
        <p:nvSpPr>
          <p:cNvPr id="123" name="Google Shape;123;p18"/>
          <p:cNvSpPr txBox="1"/>
          <p:nvPr/>
        </p:nvSpPr>
        <p:spPr>
          <a:xfrm>
            <a:off x="5375" y="10750"/>
            <a:ext cx="1032900" cy="5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2"/>
                </a:solidFill>
                <a:latin typeface="Roboto"/>
                <a:ea typeface="Roboto"/>
                <a:cs typeface="Roboto"/>
                <a:sym typeface="Roboto"/>
              </a:rPr>
              <a:t>Q3</a:t>
            </a:r>
            <a:endParaRPr b="1" sz="1800">
              <a:solidFill>
                <a:schemeClr val="accent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200"/>
              <a:t>How do popularity trends differ between male and female names?</a:t>
            </a:r>
            <a:endParaRPr b="1" sz="2200"/>
          </a:p>
        </p:txBody>
      </p:sp>
      <p:sp>
        <p:nvSpPr>
          <p:cNvPr id="129" name="Google Shape;129;p1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04800" lvl="0" marL="457200" rtl="0" algn="l">
              <a:spcBef>
                <a:spcPts val="1200"/>
              </a:spcBef>
              <a:spcAft>
                <a:spcPts val="0"/>
              </a:spcAft>
              <a:buClr>
                <a:srgbClr val="000000"/>
              </a:buClr>
              <a:buSzPts val="1200"/>
              <a:buChar char="●"/>
            </a:pPr>
            <a:r>
              <a:rPr b="1" lang="en" sz="1200">
                <a:solidFill>
                  <a:srgbClr val="000000"/>
                </a:solidFill>
              </a:rPr>
              <a:t>Why interesting:</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Tests stability vs volatility</a:t>
            </a:r>
            <a:endParaRPr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Can show the </a:t>
            </a:r>
            <a:r>
              <a:rPr lang="en" sz="1200">
                <a:solidFill>
                  <a:srgbClr val="000000"/>
                </a:solidFill>
              </a:rPr>
              <a:t>difference</a:t>
            </a:r>
            <a:r>
              <a:rPr lang="en" sz="1200">
                <a:solidFill>
                  <a:srgbClr val="000000"/>
                </a:solidFill>
              </a:rPr>
              <a:t> in boy names to girl names (eg. buck vs lilly)</a:t>
            </a:r>
            <a:endParaRPr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Can show the popularity of naming boys girls names and vice </a:t>
            </a:r>
            <a:r>
              <a:rPr lang="en" sz="1200">
                <a:solidFill>
                  <a:srgbClr val="000000"/>
                </a:solidFill>
              </a:rPr>
              <a:t>versa</a:t>
            </a:r>
            <a:endParaRPr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Why inferential:</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Comparing two groups over time</a:t>
            </a:r>
            <a:endParaRPr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Variables:</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Gender vs Name frequency trends</a:t>
            </a:r>
            <a:endParaRPr sz="1200">
              <a:solidFill>
                <a:srgbClr val="000000"/>
              </a:solidFill>
            </a:endParaRPr>
          </a:p>
        </p:txBody>
      </p:sp>
      <p:sp>
        <p:nvSpPr>
          <p:cNvPr id="130" name="Google Shape;130;p19"/>
          <p:cNvSpPr txBox="1"/>
          <p:nvPr/>
        </p:nvSpPr>
        <p:spPr>
          <a:xfrm>
            <a:off x="5375" y="10750"/>
            <a:ext cx="1032900" cy="5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2"/>
                </a:solidFill>
                <a:latin typeface="Roboto"/>
                <a:ea typeface="Roboto"/>
                <a:cs typeface="Roboto"/>
                <a:sym typeface="Roboto"/>
              </a:rPr>
              <a:t>Q4</a:t>
            </a:r>
            <a:endParaRPr b="1" sz="1800">
              <a:solidFill>
                <a:schemeClr val="accent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000"/>
              <a:t>What patterns show when names decline and later return in popularity?</a:t>
            </a:r>
            <a:endParaRPr b="1" sz="2000"/>
          </a:p>
          <a:p>
            <a:pPr indent="0" lvl="0" marL="0" rtl="0" algn="l">
              <a:spcBef>
                <a:spcPts val="0"/>
              </a:spcBef>
              <a:spcAft>
                <a:spcPts val="0"/>
              </a:spcAft>
              <a:buSzPts val="990"/>
              <a:buNone/>
            </a:pPr>
            <a:r>
              <a:t/>
            </a:r>
            <a:endParaRPr b="1" sz="2000"/>
          </a:p>
          <a:p>
            <a:pPr indent="0" lvl="0" marL="0" rtl="0" algn="l">
              <a:spcBef>
                <a:spcPts val="0"/>
              </a:spcBef>
              <a:spcAft>
                <a:spcPts val="0"/>
              </a:spcAft>
              <a:buSzPts val="990"/>
              <a:buNone/>
            </a:pPr>
            <a:r>
              <a:t/>
            </a:r>
            <a:endParaRPr b="1" sz="2000"/>
          </a:p>
        </p:txBody>
      </p:sp>
      <p:sp>
        <p:nvSpPr>
          <p:cNvPr id="136" name="Google Shape;136;p2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04800" lvl="0" marL="457200" rtl="0" algn="l">
              <a:spcBef>
                <a:spcPts val="1200"/>
              </a:spcBef>
              <a:spcAft>
                <a:spcPts val="0"/>
              </a:spcAft>
              <a:buClr>
                <a:srgbClr val="000000"/>
              </a:buClr>
              <a:buSzPts val="1200"/>
              <a:buChar char="●"/>
            </a:pPr>
            <a:r>
              <a:rPr b="1" lang="en" sz="1200">
                <a:solidFill>
                  <a:srgbClr val="000000"/>
                </a:solidFill>
              </a:rPr>
              <a:t>Why interesting:</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Cyclical trends</a:t>
            </a:r>
            <a:endParaRPr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Why inferential:</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Identifying patterns over long time</a:t>
            </a:r>
            <a:endParaRPr sz="1200">
              <a:solidFill>
                <a:srgbClr val="000000"/>
              </a:solidFill>
            </a:endParaRPr>
          </a:p>
          <a:p>
            <a:pPr indent="-304800" lvl="0" marL="457200" rtl="0" algn="l">
              <a:spcBef>
                <a:spcPts val="0"/>
              </a:spcBef>
              <a:spcAft>
                <a:spcPts val="0"/>
              </a:spcAft>
              <a:buClr>
                <a:srgbClr val="000000"/>
              </a:buClr>
              <a:buSzPts val="1200"/>
              <a:buChar char="●"/>
            </a:pPr>
            <a:r>
              <a:rPr b="1" lang="en" sz="1200">
                <a:solidFill>
                  <a:srgbClr val="000000"/>
                </a:solidFill>
              </a:rPr>
              <a:t>Variables:</a:t>
            </a:r>
            <a:endParaRPr b="1"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Name vs Year vs Count</a:t>
            </a:r>
            <a:endParaRPr sz="1200">
              <a:solidFill>
                <a:srgbClr val="000000"/>
              </a:solidFill>
            </a:endParaRPr>
          </a:p>
        </p:txBody>
      </p:sp>
      <p:sp>
        <p:nvSpPr>
          <p:cNvPr id="137" name="Google Shape;137;p20"/>
          <p:cNvSpPr txBox="1"/>
          <p:nvPr/>
        </p:nvSpPr>
        <p:spPr>
          <a:xfrm>
            <a:off x="5375" y="10750"/>
            <a:ext cx="1032900" cy="5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2"/>
                </a:solidFill>
                <a:latin typeface="Roboto"/>
                <a:ea typeface="Roboto"/>
                <a:cs typeface="Roboto"/>
                <a:sym typeface="Roboto"/>
              </a:rPr>
              <a:t>Q5</a:t>
            </a:r>
            <a:endParaRPr b="1" sz="1800">
              <a:solidFill>
                <a:schemeClr val="accen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solidFill>
                  <a:schemeClr val="accent1"/>
                </a:solidFill>
              </a:rPr>
              <a:t>Dataset breakdown:</a:t>
            </a:r>
            <a:endParaRPr b="1" sz="1300">
              <a:solidFill>
                <a:schemeClr val="accent1"/>
              </a:solidFill>
            </a:endParaRPr>
          </a:p>
          <a:p>
            <a:pPr indent="-304800" lvl="0" marL="457200" rtl="0" algn="l">
              <a:spcBef>
                <a:spcPts val="1200"/>
              </a:spcBef>
              <a:spcAft>
                <a:spcPts val="0"/>
              </a:spcAft>
              <a:buClr>
                <a:srgbClr val="000000"/>
              </a:buClr>
              <a:buSzPts val="1200"/>
              <a:buChar char="●"/>
            </a:pPr>
            <a:r>
              <a:rPr lang="en" sz="1200">
                <a:solidFill>
                  <a:srgbClr val="000000"/>
                </a:solidFill>
              </a:rPr>
              <a:t>Data is split into yearly files (yobYYYY.txt), which contain:</a:t>
            </a:r>
            <a:endParaRPr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Name</a:t>
            </a:r>
            <a:endParaRPr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Sex (M/F)</a:t>
            </a:r>
            <a:endParaRPr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Number of occurrences</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Files are sorted by popularity</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Only includes names with ≥5 occurrences </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Time range: 1880 to present</a:t>
            </a:r>
            <a:endParaRPr sz="1200">
              <a:solidFill>
                <a:srgbClr val="000000"/>
              </a:solidFill>
            </a:endParaRPr>
          </a:p>
          <a:p>
            <a:pPr indent="0" lvl="0" marL="457200" rtl="0" algn="l">
              <a:spcBef>
                <a:spcPts val="1200"/>
              </a:spcBef>
              <a:spcAft>
                <a:spcPts val="1200"/>
              </a:spcAft>
              <a:buNone/>
            </a:pPr>
            <a:r>
              <a:t/>
            </a:r>
            <a:endParaRPr b="1" sz="1200">
              <a:solidFill>
                <a:srgbClr val="000000"/>
              </a:solidFill>
            </a:endParaRPr>
          </a:p>
        </p:txBody>
      </p:sp>
      <p:sp>
        <p:nvSpPr>
          <p:cNvPr id="143" name="Google Shape;143;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 and Question Alignment</a:t>
            </a:r>
            <a:endParaRPr b="1"/>
          </a:p>
        </p:txBody>
      </p:sp>
      <p:pic>
        <p:nvPicPr>
          <p:cNvPr id="144" name="Google Shape;144;p21"/>
          <p:cNvPicPr preferRelativeResize="0"/>
          <p:nvPr/>
        </p:nvPicPr>
        <p:blipFill>
          <a:blip r:embed="rId3">
            <a:alphaModFix/>
          </a:blip>
          <a:stretch>
            <a:fillRect/>
          </a:stretch>
        </p:blipFill>
        <p:spPr>
          <a:xfrm>
            <a:off x="5655848" y="677875"/>
            <a:ext cx="3135176" cy="3002175"/>
          </a:xfrm>
          <a:prstGeom prst="rect">
            <a:avLst/>
          </a:prstGeom>
          <a:noFill/>
          <a:ln>
            <a:noFill/>
          </a:ln>
        </p:spPr>
      </p:pic>
      <p:sp>
        <p:nvSpPr>
          <p:cNvPr id="145" name="Google Shape;145;p21"/>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 and Question Alignment - Table</a:t>
            </a:r>
            <a:endParaRPr b="1"/>
          </a:p>
        </p:txBody>
      </p:sp>
      <p:graphicFrame>
        <p:nvGraphicFramePr>
          <p:cNvPr id="151" name="Google Shape;151;p22"/>
          <p:cNvGraphicFramePr/>
          <p:nvPr/>
        </p:nvGraphicFramePr>
        <p:xfrm>
          <a:off x="852613" y="1162125"/>
          <a:ext cx="3000000" cy="3000000"/>
        </p:xfrm>
        <a:graphic>
          <a:graphicData uri="http://schemas.openxmlformats.org/drawingml/2006/table">
            <a:tbl>
              <a:tblPr>
                <a:noFill/>
                <a:tableStyleId>{5B482B62-7C31-42FF-9441-0228332F6854}</a:tableStyleId>
              </a:tblPr>
              <a:tblGrid>
                <a:gridCol w="3466450"/>
                <a:gridCol w="2926900"/>
                <a:gridCol w="1045425"/>
              </a:tblGrid>
              <a:tr h="381000">
                <a:tc>
                  <a:txBody>
                    <a:bodyPr/>
                    <a:lstStyle/>
                    <a:p>
                      <a:pPr indent="0" lvl="0" marL="0" rtl="0" algn="ctr">
                        <a:lnSpc>
                          <a:spcPct val="115000"/>
                        </a:lnSpc>
                        <a:spcBef>
                          <a:spcPts val="0"/>
                        </a:spcBef>
                        <a:spcAft>
                          <a:spcPts val="0"/>
                        </a:spcAft>
                        <a:buNone/>
                      </a:pPr>
                      <a:r>
                        <a:rPr b="1" lang="en" sz="1000">
                          <a:latin typeface="Roboto"/>
                          <a:ea typeface="Roboto"/>
                          <a:cs typeface="Roboto"/>
                          <a:sym typeface="Roboto"/>
                        </a:rPr>
                        <a:t>Question</a:t>
                      </a:r>
                      <a:endParaRPr b="1" sz="1000">
                        <a:latin typeface="Roboto"/>
                        <a:ea typeface="Roboto"/>
                        <a:cs typeface="Roboto"/>
                        <a:sym typeface="Roboto"/>
                      </a:endParaRPr>
                    </a:p>
                  </a:txBody>
                  <a:tcPr marT="91425" marB="91425" marR="91425" marL="91425"/>
                </a:tc>
                <a:tc>
                  <a:txBody>
                    <a:bodyPr/>
                    <a:lstStyle/>
                    <a:p>
                      <a:pPr indent="0" lvl="0" marL="0" rtl="0" algn="ctr">
                        <a:lnSpc>
                          <a:spcPct val="115000"/>
                        </a:lnSpc>
                        <a:spcBef>
                          <a:spcPts val="0"/>
                        </a:spcBef>
                        <a:spcAft>
                          <a:spcPts val="0"/>
                        </a:spcAft>
                        <a:buNone/>
                      </a:pPr>
                      <a:r>
                        <a:rPr b="1" lang="en" sz="1000">
                          <a:latin typeface="Roboto"/>
                          <a:ea typeface="Roboto"/>
                          <a:cs typeface="Roboto"/>
                          <a:sym typeface="Roboto"/>
                        </a:rPr>
                        <a:t>Data Used</a:t>
                      </a:r>
                      <a:endParaRPr b="1" sz="1000">
                        <a:latin typeface="Roboto"/>
                        <a:ea typeface="Roboto"/>
                        <a:cs typeface="Roboto"/>
                        <a:sym typeface="Roboto"/>
                      </a:endParaRPr>
                    </a:p>
                  </a:txBody>
                  <a:tcPr marT="91425" marB="91425" marR="91425" marL="91425"/>
                </a:tc>
                <a:tc>
                  <a:txBody>
                    <a:bodyPr/>
                    <a:lstStyle/>
                    <a:p>
                      <a:pPr indent="0" lvl="0" marL="0" rtl="0" algn="ctr">
                        <a:lnSpc>
                          <a:spcPct val="115000"/>
                        </a:lnSpc>
                        <a:spcBef>
                          <a:spcPts val="0"/>
                        </a:spcBef>
                        <a:spcAft>
                          <a:spcPts val="0"/>
                        </a:spcAft>
                        <a:buNone/>
                      </a:pPr>
                      <a:r>
                        <a:rPr b="1" lang="en" sz="1000">
                          <a:latin typeface="Roboto"/>
                          <a:ea typeface="Roboto"/>
                          <a:cs typeface="Roboto"/>
                          <a:sym typeface="Roboto"/>
                        </a:rPr>
                        <a:t>Can Answer?</a:t>
                      </a:r>
                      <a:endParaRPr b="1" sz="1000">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sz="1000">
                          <a:latin typeface="Roboto"/>
                          <a:ea typeface="Roboto"/>
                          <a:cs typeface="Roboto"/>
                          <a:sym typeface="Roboto"/>
                        </a:rPr>
                        <a:t>How do individual baby names differ in their rise, peak, and decline patterns over time?</a:t>
                      </a:r>
                      <a:endParaRPr sz="1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000">
                          <a:latin typeface="Roboto"/>
                          <a:ea typeface="Roboto"/>
                          <a:cs typeface="Roboto"/>
                          <a:sym typeface="Roboto"/>
                        </a:rPr>
                        <a:t>Name, year, number/count</a:t>
                      </a:r>
                      <a:endParaRPr sz="1000">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lang="en" sz="1000">
                          <a:latin typeface="Roboto"/>
                          <a:ea typeface="Roboto"/>
                          <a:cs typeface="Roboto"/>
                          <a:sym typeface="Roboto"/>
                        </a:rPr>
                        <a:t>Yes</a:t>
                      </a:r>
                      <a:endParaRPr sz="1000">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sz="1000">
                          <a:latin typeface="Roboto"/>
                          <a:ea typeface="Roboto"/>
                          <a:cs typeface="Roboto"/>
                          <a:sym typeface="Roboto"/>
                        </a:rPr>
                        <a:t>How do popularity trends differ between male and female names?</a:t>
                      </a:r>
                      <a:endParaRPr sz="1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000">
                          <a:latin typeface="Roboto"/>
                          <a:ea typeface="Roboto"/>
                          <a:cs typeface="Roboto"/>
                          <a:sym typeface="Roboto"/>
                        </a:rPr>
                        <a:t>Sex, name, year, number/count</a:t>
                      </a:r>
                      <a:endParaRPr sz="1000">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lang="en" sz="1000">
                          <a:latin typeface="Roboto"/>
                          <a:ea typeface="Roboto"/>
                          <a:cs typeface="Roboto"/>
                          <a:sym typeface="Roboto"/>
                        </a:rPr>
                        <a:t>Yes</a:t>
                      </a:r>
                      <a:endParaRPr sz="1000">
                        <a:latin typeface="Roboto"/>
                        <a:ea typeface="Roboto"/>
                        <a:cs typeface="Roboto"/>
                        <a:sym typeface="Roboto"/>
                      </a:endParaRPr>
                    </a:p>
                  </a:txBody>
                  <a:tcPr marT="91425" marB="91425" marR="91425" marL="91425"/>
                </a:tc>
              </a:tr>
              <a:tr h="318325">
                <a:tc>
                  <a:txBody>
                    <a:bodyPr/>
                    <a:lstStyle/>
                    <a:p>
                      <a:pPr indent="0" lvl="0" marL="0" rtl="0" algn="l">
                        <a:spcBef>
                          <a:spcPts val="0"/>
                        </a:spcBef>
                        <a:spcAft>
                          <a:spcPts val="0"/>
                        </a:spcAft>
                        <a:buNone/>
                      </a:pPr>
                      <a:r>
                        <a:rPr lang="en" sz="1000">
                          <a:latin typeface="Roboto"/>
                          <a:ea typeface="Roboto"/>
                          <a:cs typeface="Roboto"/>
                          <a:sym typeface="Roboto"/>
                        </a:rPr>
                        <a:t>How has the distribution of baby names changed over time?</a:t>
                      </a:r>
                      <a:endParaRPr sz="1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000">
                          <a:latin typeface="Roboto"/>
                          <a:ea typeface="Roboto"/>
                          <a:cs typeface="Roboto"/>
                          <a:sym typeface="Roboto"/>
                        </a:rPr>
                        <a:t>Year, total births, top 10 name counts, number of unique names</a:t>
                      </a:r>
                      <a:endParaRPr sz="1000">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lang="en" sz="1000">
                          <a:latin typeface="Roboto"/>
                          <a:ea typeface="Roboto"/>
                          <a:cs typeface="Roboto"/>
                          <a:sym typeface="Roboto"/>
                        </a:rPr>
                        <a:t>Yes</a:t>
                      </a:r>
                      <a:endParaRPr sz="1000">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sz="1000">
                          <a:latin typeface="Roboto"/>
                          <a:ea typeface="Roboto"/>
                          <a:cs typeface="Roboto"/>
                          <a:sym typeface="Roboto"/>
                        </a:rPr>
                        <a:t>What does past trend data suggest about a name’s future popularity?</a:t>
                      </a:r>
                      <a:endParaRPr sz="1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000">
                          <a:latin typeface="Roboto"/>
                          <a:ea typeface="Roboto"/>
                          <a:cs typeface="Roboto"/>
                          <a:sym typeface="Roboto"/>
                        </a:rPr>
                        <a:t>Name, year, number/count, year-to-year change, trend slope</a:t>
                      </a:r>
                      <a:endParaRPr sz="1000">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lang="en" sz="1000">
                          <a:latin typeface="Roboto"/>
                          <a:ea typeface="Roboto"/>
                          <a:cs typeface="Roboto"/>
                          <a:sym typeface="Roboto"/>
                        </a:rPr>
                        <a:t>Yes</a:t>
                      </a:r>
                      <a:endParaRPr sz="1000">
                        <a:latin typeface="Roboto"/>
                        <a:ea typeface="Roboto"/>
                        <a:cs typeface="Roboto"/>
                        <a:sym typeface="Roboto"/>
                      </a:endParaRPr>
                    </a:p>
                  </a:txBody>
                  <a:tcPr marT="91425" marB="91425" marR="91425" marL="91425"/>
                </a:tc>
              </a:tr>
              <a:tr h="381000">
                <a:tc>
                  <a:txBody>
                    <a:bodyPr/>
                    <a:lstStyle/>
                    <a:p>
                      <a:pPr indent="0" lvl="0" marL="0" rtl="0" algn="l">
                        <a:spcBef>
                          <a:spcPts val="0"/>
                        </a:spcBef>
                        <a:spcAft>
                          <a:spcPts val="0"/>
                        </a:spcAft>
                        <a:buNone/>
                      </a:pPr>
                      <a:r>
                        <a:rPr lang="en" sz="1000">
                          <a:latin typeface="Roboto"/>
                          <a:ea typeface="Roboto"/>
                          <a:cs typeface="Roboto"/>
                          <a:sym typeface="Roboto"/>
                        </a:rPr>
                        <a:t>What patterns show when names decline and later return in popularity?</a:t>
                      </a:r>
                      <a:endParaRPr sz="1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lang="en" sz="1000">
                          <a:latin typeface="Roboto"/>
                          <a:ea typeface="Roboto"/>
                          <a:cs typeface="Roboto"/>
                          <a:sym typeface="Roboto"/>
                        </a:rPr>
                        <a:t>Name, year, number/count, gaps in popularity, multiple peaks</a:t>
                      </a:r>
                      <a:endParaRPr sz="1000">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lang="en" sz="1000">
                          <a:latin typeface="Roboto"/>
                          <a:ea typeface="Roboto"/>
                          <a:cs typeface="Roboto"/>
                          <a:sym typeface="Roboto"/>
                        </a:rPr>
                        <a:t>Yes</a:t>
                      </a:r>
                      <a:endParaRPr sz="1000">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nvSpPr>
        <p:spPr>
          <a:xfrm>
            <a:off x="371250" y="1554875"/>
            <a:ext cx="8285700" cy="125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a:latin typeface="Roboto"/>
                <a:ea typeface="Roboto"/>
                <a:cs typeface="Roboto"/>
                <a:sym typeface="Roboto"/>
              </a:rPr>
              <a:t>1. How do individual baby names differ in their rise, peak, and decline patterns over time?</a:t>
            </a:r>
            <a:endParaRPr b="1" sz="1500">
              <a:latin typeface="Roboto"/>
              <a:ea typeface="Roboto"/>
              <a:cs typeface="Roboto"/>
              <a:sym typeface="Roboto"/>
            </a:endParaRPr>
          </a:p>
          <a:p>
            <a:pPr indent="0" lvl="0" marL="0" rtl="0" algn="l">
              <a:lnSpc>
                <a:spcPct val="115000"/>
              </a:lnSpc>
              <a:spcBef>
                <a:spcPts val="1200"/>
              </a:spcBef>
              <a:spcAft>
                <a:spcPts val="0"/>
              </a:spcAft>
              <a:buNone/>
            </a:pPr>
            <a:r>
              <a:rPr b="1" lang="en" sz="1500">
                <a:latin typeface="Roboto"/>
                <a:ea typeface="Roboto"/>
                <a:cs typeface="Roboto"/>
                <a:sym typeface="Roboto"/>
              </a:rPr>
              <a:t>2. How has the distribution of baby names changed over time?</a:t>
            </a:r>
            <a:endParaRPr b="1" sz="1500">
              <a:latin typeface="Roboto"/>
              <a:ea typeface="Roboto"/>
              <a:cs typeface="Roboto"/>
              <a:sym typeface="Roboto"/>
            </a:endParaRPr>
          </a:p>
          <a:p>
            <a:pPr indent="0" lvl="0" marL="0" rtl="0" algn="l">
              <a:lnSpc>
                <a:spcPct val="115000"/>
              </a:lnSpc>
              <a:spcBef>
                <a:spcPts val="1200"/>
              </a:spcBef>
              <a:spcAft>
                <a:spcPts val="1200"/>
              </a:spcAft>
              <a:buNone/>
            </a:pPr>
            <a:r>
              <a:rPr b="1" lang="en" sz="1500">
                <a:latin typeface="Roboto"/>
                <a:ea typeface="Roboto"/>
                <a:cs typeface="Roboto"/>
                <a:sym typeface="Roboto"/>
              </a:rPr>
              <a:t>3. What does past trend data suggest about a name’s future popularity?</a:t>
            </a:r>
            <a:endParaRPr b="1" sz="1500">
              <a:latin typeface="Roboto"/>
              <a:ea typeface="Roboto"/>
              <a:cs typeface="Roboto"/>
              <a:sym typeface="Roboto"/>
            </a:endParaRPr>
          </a:p>
        </p:txBody>
      </p:sp>
      <p:sp>
        <p:nvSpPr>
          <p:cNvPr id="157" name="Google Shape;157;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Most Promising/Interesting Questions</a:t>
            </a:r>
            <a:endParaRPr b="1"/>
          </a:p>
        </p:txBody>
      </p:sp>
      <p:sp>
        <p:nvSpPr>
          <p:cNvPr id="158" name="Google Shape;158;p23"/>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solidFill>
                  <a:schemeClr val="accent1"/>
                </a:solidFill>
              </a:rPr>
              <a:t>Metrics:</a:t>
            </a:r>
            <a:endParaRPr b="1" sz="1300">
              <a:solidFill>
                <a:schemeClr val="accent1"/>
              </a:solidFill>
            </a:endParaRPr>
          </a:p>
          <a:p>
            <a:pPr indent="-304800" lvl="0" marL="457200" rtl="0" algn="l">
              <a:spcBef>
                <a:spcPts val="1200"/>
              </a:spcBef>
              <a:spcAft>
                <a:spcPts val="0"/>
              </a:spcAft>
              <a:buClr>
                <a:srgbClr val="000000"/>
              </a:buClr>
              <a:buSzPts val="1200"/>
              <a:buChar char="●"/>
            </a:pPr>
            <a:r>
              <a:rPr lang="en" sz="1200">
                <a:solidFill>
                  <a:srgbClr val="000000"/>
                </a:solidFill>
              </a:rPr>
              <a:t>Yearly name count</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Year-to-year change</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Percent growth rate</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Peak year and peak count</a:t>
            </a:r>
            <a:endParaRPr sz="12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lnSpc>
                <a:spcPct val="115000"/>
              </a:lnSpc>
              <a:spcBef>
                <a:spcPts val="1200"/>
              </a:spcBef>
              <a:spcAft>
                <a:spcPts val="0"/>
              </a:spcAft>
              <a:buNone/>
            </a:pPr>
            <a:r>
              <a:rPr b="1" lang="en" sz="1300">
                <a:solidFill>
                  <a:schemeClr val="accent1"/>
                </a:solidFill>
              </a:rPr>
              <a:t>Tools / Python Packages</a:t>
            </a:r>
            <a:r>
              <a:rPr b="1" lang="en" sz="1300">
                <a:solidFill>
                  <a:schemeClr val="accent1"/>
                </a:solidFill>
              </a:rPr>
              <a:t>:</a:t>
            </a:r>
            <a:endParaRPr b="1" sz="1300">
              <a:solidFill>
                <a:schemeClr val="accent1"/>
              </a:solidFill>
            </a:endParaRPr>
          </a:p>
          <a:p>
            <a:pPr indent="-304800" lvl="0" marL="457200" rtl="0" algn="l">
              <a:lnSpc>
                <a:spcPct val="115000"/>
              </a:lnSpc>
              <a:spcBef>
                <a:spcPts val="1200"/>
              </a:spcBef>
              <a:spcAft>
                <a:spcPts val="0"/>
              </a:spcAft>
              <a:buClr>
                <a:srgbClr val="000000"/>
              </a:buClr>
              <a:buSzPts val="1200"/>
              <a:buChar char="●"/>
            </a:pPr>
            <a:r>
              <a:rPr lang="en" sz="1200">
                <a:solidFill>
                  <a:srgbClr val="000000"/>
                </a:solidFill>
              </a:rPr>
              <a:t>Pandas</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Numpy</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Matplotlib </a:t>
            </a:r>
            <a:endParaRPr sz="1200">
              <a:solidFill>
                <a:srgbClr val="000000"/>
              </a:solidFill>
            </a:endParaRPr>
          </a:p>
        </p:txBody>
      </p:sp>
      <p:sp>
        <p:nvSpPr>
          <p:cNvPr id="164" name="Google Shape;164;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300"/>
              <a:t>How do individual baby names differ in their rise, peak, and decline patterns over time?</a:t>
            </a:r>
            <a:endParaRPr b="1" sz="2300"/>
          </a:p>
          <a:p>
            <a:pPr indent="0" lvl="0" marL="0" rtl="0" algn="l">
              <a:spcBef>
                <a:spcPts val="0"/>
              </a:spcBef>
              <a:spcAft>
                <a:spcPts val="0"/>
              </a:spcAft>
              <a:buNone/>
            </a:pPr>
            <a:r>
              <a:t/>
            </a:r>
            <a:endParaRPr b="1" sz="2300"/>
          </a:p>
        </p:txBody>
      </p:sp>
      <p:sp>
        <p:nvSpPr>
          <p:cNvPr id="165" name="Google Shape;165;p24"/>
          <p:cNvSpPr txBox="1"/>
          <p:nvPr/>
        </p:nvSpPr>
        <p:spPr>
          <a:xfrm>
            <a:off x="5018850" y="1249650"/>
            <a:ext cx="3000000" cy="139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chemeClr val="accent1"/>
                </a:solidFill>
                <a:latin typeface="Roboto"/>
                <a:ea typeface="Roboto"/>
                <a:cs typeface="Roboto"/>
                <a:sym typeface="Roboto"/>
              </a:rPr>
              <a:t>Plots / Visualization:</a:t>
            </a:r>
            <a:endParaRPr b="1" sz="1300">
              <a:solidFill>
                <a:schemeClr val="accent1"/>
              </a:solidFill>
              <a:latin typeface="Roboto"/>
              <a:ea typeface="Roboto"/>
              <a:cs typeface="Roboto"/>
              <a:sym typeface="Roboto"/>
            </a:endParaRPr>
          </a:p>
          <a:p>
            <a:pPr indent="-304800" lvl="0" marL="457200" rtl="0" algn="l">
              <a:lnSpc>
                <a:spcPct val="115000"/>
              </a:lnSpc>
              <a:spcBef>
                <a:spcPts val="1200"/>
              </a:spcBef>
              <a:spcAft>
                <a:spcPts val="0"/>
              </a:spcAft>
              <a:buClr>
                <a:srgbClr val="000000"/>
              </a:buClr>
              <a:buSzPts val="1200"/>
              <a:buFont typeface="Roboto"/>
              <a:buChar char="●"/>
            </a:pPr>
            <a:r>
              <a:rPr lang="en" sz="1200">
                <a:latin typeface="Roboto"/>
                <a:ea typeface="Roboto"/>
                <a:cs typeface="Roboto"/>
                <a:sym typeface="Roboto"/>
              </a:rPr>
              <a:t>Line graph (Year vs Name Count)</a:t>
            </a:r>
            <a:endParaRPr sz="1200">
              <a:latin typeface="Roboto"/>
              <a:ea typeface="Roboto"/>
              <a:cs typeface="Roboto"/>
              <a:sym typeface="Roboto"/>
            </a:endParaRPr>
          </a:p>
          <a:p>
            <a:pPr indent="-304800" lvl="0" marL="457200" rtl="0" algn="l">
              <a:lnSpc>
                <a:spcPct val="115000"/>
              </a:lnSpc>
              <a:spcBef>
                <a:spcPts val="0"/>
              </a:spcBef>
              <a:spcAft>
                <a:spcPts val="0"/>
              </a:spcAft>
              <a:buClr>
                <a:srgbClr val="000000"/>
              </a:buClr>
              <a:buSzPts val="1200"/>
              <a:buFont typeface="Roboto"/>
              <a:buChar char="●"/>
            </a:pPr>
            <a:r>
              <a:rPr lang="en" sz="1200">
                <a:latin typeface="Roboto"/>
                <a:ea typeface="Roboto"/>
                <a:cs typeface="Roboto"/>
                <a:sym typeface="Roboto"/>
              </a:rPr>
              <a:t>Smoothed trend line (moving average)</a:t>
            </a:r>
            <a:endParaRPr sz="1200">
              <a:latin typeface="Roboto"/>
              <a:ea typeface="Roboto"/>
              <a:cs typeface="Roboto"/>
              <a:sym typeface="Roboto"/>
            </a:endParaRPr>
          </a:p>
          <a:p>
            <a:pPr indent="-304800" lvl="0" marL="457200" rtl="0" algn="l">
              <a:lnSpc>
                <a:spcPct val="115000"/>
              </a:lnSpc>
              <a:spcBef>
                <a:spcPts val="0"/>
              </a:spcBef>
              <a:spcAft>
                <a:spcPts val="0"/>
              </a:spcAft>
              <a:buClr>
                <a:srgbClr val="000000"/>
              </a:buClr>
              <a:buSzPts val="1200"/>
              <a:buFont typeface="Roboto"/>
              <a:buChar char="●"/>
            </a:pPr>
            <a:r>
              <a:rPr lang="en" sz="1200">
                <a:latin typeface="Roboto"/>
                <a:ea typeface="Roboto"/>
                <a:cs typeface="Roboto"/>
                <a:sym typeface="Roboto"/>
              </a:rPr>
              <a:t>Highlight peak points</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solidFill>
                  <a:schemeClr val="accent1"/>
                </a:solidFill>
              </a:rPr>
              <a:t>Metrics:</a:t>
            </a:r>
            <a:endParaRPr b="1" sz="1300">
              <a:solidFill>
                <a:schemeClr val="accent1"/>
              </a:solidFill>
            </a:endParaRPr>
          </a:p>
          <a:p>
            <a:pPr indent="-304800" lvl="0" marL="457200" rtl="0" algn="l">
              <a:spcBef>
                <a:spcPts val="1200"/>
              </a:spcBef>
              <a:spcAft>
                <a:spcPts val="0"/>
              </a:spcAft>
              <a:buClr>
                <a:srgbClr val="000000"/>
              </a:buClr>
              <a:buSzPts val="1200"/>
              <a:buChar char="●"/>
            </a:pPr>
            <a:r>
              <a:rPr lang="en" sz="1200">
                <a:solidFill>
                  <a:srgbClr val="000000"/>
                </a:solidFill>
              </a:rPr>
              <a:t>Top 10 Share</a:t>
            </a:r>
            <a:endParaRPr sz="1200">
              <a:solidFill>
                <a:srgbClr val="000000"/>
              </a:solidFill>
            </a:endParaRPr>
          </a:p>
          <a:p>
            <a:pPr indent="-304800" lvl="1" marL="914400" rtl="0" algn="l">
              <a:spcBef>
                <a:spcPts val="0"/>
              </a:spcBef>
              <a:spcAft>
                <a:spcPts val="0"/>
              </a:spcAft>
              <a:buClr>
                <a:srgbClr val="000000"/>
              </a:buClr>
              <a:buSzPts val="1200"/>
              <a:buChar char="○"/>
            </a:pPr>
            <a:r>
              <a:rPr lang="en" sz="1200">
                <a:solidFill>
                  <a:srgbClr val="000000"/>
                </a:solidFill>
              </a:rPr>
              <a:t>births with top 10 names / total births</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Number of unique names per year</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Total births per year</a:t>
            </a:r>
            <a:endParaRPr sz="12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lnSpc>
                <a:spcPct val="115000"/>
              </a:lnSpc>
              <a:spcBef>
                <a:spcPts val="1200"/>
              </a:spcBef>
              <a:spcAft>
                <a:spcPts val="0"/>
              </a:spcAft>
              <a:buNone/>
            </a:pPr>
            <a:r>
              <a:rPr b="1" lang="en" sz="1300">
                <a:solidFill>
                  <a:schemeClr val="accent1"/>
                </a:solidFill>
              </a:rPr>
              <a:t>Tools / Python Packages:</a:t>
            </a:r>
            <a:endParaRPr b="1" sz="1300">
              <a:solidFill>
                <a:schemeClr val="accent1"/>
              </a:solidFill>
            </a:endParaRPr>
          </a:p>
          <a:p>
            <a:pPr indent="-304800" lvl="0" marL="457200" rtl="0" algn="l">
              <a:lnSpc>
                <a:spcPct val="115000"/>
              </a:lnSpc>
              <a:spcBef>
                <a:spcPts val="1200"/>
              </a:spcBef>
              <a:spcAft>
                <a:spcPts val="0"/>
              </a:spcAft>
              <a:buClr>
                <a:srgbClr val="000000"/>
              </a:buClr>
              <a:buSzPts val="1200"/>
              <a:buChar char="●"/>
            </a:pPr>
            <a:r>
              <a:rPr lang="en" sz="1200">
                <a:solidFill>
                  <a:srgbClr val="000000"/>
                </a:solidFill>
              </a:rPr>
              <a:t>Pandas</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Numpy</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Matplotlib </a:t>
            </a:r>
            <a:endParaRPr sz="1200">
              <a:solidFill>
                <a:srgbClr val="000000"/>
              </a:solidFill>
            </a:endParaRPr>
          </a:p>
        </p:txBody>
      </p:sp>
      <p:sp>
        <p:nvSpPr>
          <p:cNvPr id="171" name="Google Shape;171;p2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300"/>
              <a:t>How has the distribution of baby names changed over time?</a:t>
            </a:r>
            <a:endParaRPr b="1" sz="2300"/>
          </a:p>
        </p:txBody>
      </p:sp>
      <p:sp>
        <p:nvSpPr>
          <p:cNvPr id="172" name="Google Shape;172;p25"/>
          <p:cNvSpPr txBox="1"/>
          <p:nvPr/>
        </p:nvSpPr>
        <p:spPr>
          <a:xfrm>
            <a:off x="5018850" y="1249650"/>
            <a:ext cx="3000000" cy="117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chemeClr val="accent1"/>
                </a:solidFill>
                <a:latin typeface="Roboto"/>
                <a:ea typeface="Roboto"/>
                <a:cs typeface="Roboto"/>
                <a:sym typeface="Roboto"/>
              </a:rPr>
              <a:t>Plots / Visualization:</a:t>
            </a:r>
            <a:endParaRPr b="1" sz="1300">
              <a:solidFill>
                <a:schemeClr val="accent1"/>
              </a:solidFill>
              <a:latin typeface="Roboto"/>
              <a:ea typeface="Roboto"/>
              <a:cs typeface="Roboto"/>
              <a:sym typeface="Roboto"/>
            </a:endParaRPr>
          </a:p>
          <a:p>
            <a:pPr indent="-304800" lvl="0" marL="457200" rtl="0" algn="l">
              <a:lnSpc>
                <a:spcPct val="115000"/>
              </a:lnSpc>
              <a:spcBef>
                <a:spcPts val="1200"/>
              </a:spcBef>
              <a:spcAft>
                <a:spcPts val="0"/>
              </a:spcAft>
              <a:buClr>
                <a:srgbClr val="000000"/>
              </a:buClr>
              <a:buSzPts val="1200"/>
              <a:buFont typeface="Roboto"/>
              <a:buChar char="●"/>
            </a:pPr>
            <a:r>
              <a:rPr lang="en" sz="1200">
                <a:latin typeface="Roboto"/>
                <a:ea typeface="Roboto"/>
                <a:cs typeface="Roboto"/>
                <a:sym typeface="Roboto"/>
              </a:rPr>
              <a:t>Line graph: Year vs Top 10 Share</a:t>
            </a:r>
            <a:endParaRPr sz="1200">
              <a:latin typeface="Roboto"/>
              <a:ea typeface="Roboto"/>
              <a:cs typeface="Roboto"/>
              <a:sym typeface="Roboto"/>
            </a:endParaRPr>
          </a:p>
          <a:p>
            <a:pPr indent="-304800" lvl="0" marL="457200" rtl="0" algn="l">
              <a:lnSpc>
                <a:spcPct val="115000"/>
              </a:lnSpc>
              <a:spcBef>
                <a:spcPts val="0"/>
              </a:spcBef>
              <a:spcAft>
                <a:spcPts val="0"/>
              </a:spcAft>
              <a:buClr>
                <a:srgbClr val="000000"/>
              </a:buClr>
              <a:buSzPts val="1200"/>
              <a:buFont typeface="Roboto"/>
              <a:buChar char="●"/>
            </a:pPr>
            <a:r>
              <a:rPr lang="en" sz="1200">
                <a:latin typeface="Roboto"/>
                <a:ea typeface="Roboto"/>
                <a:cs typeface="Roboto"/>
                <a:sym typeface="Roboto"/>
              </a:rPr>
              <a:t>Line graph: Year vs Number of Unique Names</a:t>
            </a:r>
            <a:endParaRPr sz="1200">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solidFill>
                  <a:schemeClr val="accent1"/>
                </a:solidFill>
              </a:rPr>
              <a:t>Metrics:</a:t>
            </a:r>
            <a:endParaRPr b="1" sz="1300">
              <a:solidFill>
                <a:schemeClr val="accent1"/>
              </a:solidFill>
            </a:endParaRPr>
          </a:p>
          <a:p>
            <a:pPr indent="-304800" lvl="0" marL="457200" rtl="0" algn="l">
              <a:spcBef>
                <a:spcPts val="1200"/>
              </a:spcBef>
              <a:spcAft>
                <a:spcPts val="0"/>
              </a:spcAft>
              <a:buClr>
                <a:srgbClr val="000000"/>
              </a:buClr>
              <a:buSzPts val="1200"/>
              <a:buChar char="●"/>
            </a:pPr>
            <a:r>
              <a:rPr lang="en" sz="1200">
                <a:solidFill>
                  <a:srgbClr val="000000"/>
                </a:solidFill>
              </a:rPr>
              <a:t>Recent growth rate</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Moving average</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Trend slope</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Predicted direction: increasing, decreasing, or stable</a:t>
            </a:r>
            <a:endParaRPr sz="1200">
              <a:solidFill>
                <a:srgbClr val="000000"/>
              </a:solidFill>
            </a:endParaRPr>
          </a:p>
          <a:p>
            <a:pPr indent="0" lvl="0" marL="0" rtl="0" algn="l">
              <a:spcBef>
                <a:spcPts val="1200"/>
              </a:spcBef>
              <a:spcAft>
                <a:spcPts val="0"/>
              </a:spcAft>
              <a:buNone/>
            </a:pPr>
            <a:r>
              <a:t/>
            </a:r>
            <a:endParaRPr sz="1100">
              <a:solidFill>
                <a:srgbClr val="000000"/>
              </a:solidFill>
            </a:endParaRPr>
          </a:p>
          <a:p>
            <a:pPr indent="0" lvl="0" marL="0" rtl="0" algn="l">
              <a:lnSpc>
                <a:spcPct val="115000"/>
              </a:lnSpc>
              <a:spcBef>
                <a:spcPts val="1200"/>
              </a:spcBef>
              <a:spcAft>
                <a:spcPts val="0"/>
              </a:spcAft>
              <a:buNone/>
            </a:pPr>
            <a:r>
              <a:rPr b="1" lang="en" sz="1300">
                <a:solidFill>
                  <a:schemeClr val="accent1"/>
                </a:solidFill>
              </a:rPr>
              <a:t>Tools / Python Packages:</a:t>
            </a:r>
            <a:endParaRPr b="1" sz="1300">
              <a:solidFill>
                <a:schemeClr val="accent1"/>
              </a:solidFill>
            </a:endParaRPr>
          </a:p>
          <a:p>
            <a:pPr indent="-304800" lvl="0" marL="457200" rtl="0" algn="l">
              <a:lnSpc>
                <a:spcPct val="115000"/>
              </a:lnSpc>
              <a:spcBef>
                <a:spcPts val="1200"/>
              </a:spcBef>
              <a:spcAft>
                <a:spcPts val="0"/>
              </a:spcAft>
              <a:buClr>
                <a:srgbClr val="000000"/>
              </a:buClr>
              <a:buSzPts val="1200"/>
              <a:buChar char="●"/>
            </a:pPr>
            <a:r>
              <a:rPr lang="en" sz="1200">
                <a:solidFill>
                  <a:srgbClr val="000000"/>
                </a:solidFill>
              </a:rPr>
              <a:t>Pandas</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Numpy</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Matplotlib </a:t>
            </a:r>
            <a:endParaRPr sz="1200">
              <a:solidFill>
                <a:srgbClr val="000000"/>
              </a:solidFill>
            </a:endParaRPr>
          </a:p>
        </p:txBody>
      </p:sp>
      <p:sp>
        <p:nvSpPr>
          <p:cNvPr id="178" name="Google Shape;178;p2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100"/>
              <a:t>What does past trend data suggest about a name’s future popularity?</a:t>
            </a:r>
            <a:endParaRPr b="1" sz="2100"/>
          </a:p>
        </p:txBody>
      </p:sp>
      <p:sp>
        <p:nvSpPr>
          <p:cNvPr id="179" name="Google Shape;179;p26"/>
          <p:cNvSpPr txBox="1"/>
          <p:nvPr/>
        </p:nvSpPr>
        <p:spPr>
          <a:xfrm>
            <a:off x="5018850" y="1249650"/>
            <a:ext cx="3000000" cy="117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chemeClr val="accent1"/>
                </a:solidFill>
                <a:latin typeface="Roboto"/>
                <a:ea typeface="Roboto"/>
                <a:cs typeface="Roboto"/>
                <a:sym typeface="Roboto"/>
              </a:rPr>
              <a:t>Plots / Visualization:</a:t>
            </a:r>
            <a:endParaRPr b="1" sz="1300">
              <a:solidFill>
                <a:schemeClr val="accent1"/>
              </a:solidFill>
              <a:latin typeface="Roboto"/>
              <a:ea typeface="Roboto"/>
              <a:cs typeface="Roboto"/>
              <a:sym typeface="Roboto"/>
            </a:endParaRPr>
          </a:p>
          <a:p>
            <a:pPr indent="-304800" lvl="0" marL="457200" rtl="0" algn="l">
              <a:lnSpc>
                <a:spcPct val="115000"/>
              </a:lnSpc>
              <a:spcBef>
                <a:spcPts val="1200"/>
              </a:spcBef>
              <a:spcAft>
                <a:spcPts val="0"/>
              </a:spcAft>
              <a:buClr>
                <a:srgbClr val="000000"/>
              </a:buClr>
              <a:buSzPts val="1200"/>
              <a:buFont typeface="Roboto"/>
              <a:buChar char="●"/>
            </a:pPr>
            <a:r>
              <a:rPr lang="en" sz="1200">
                <a:latin typeface="Roboto"/>
                <a:ea typeface="Roboto"/>
                <a:cs typeface="Roboto"/>
                <a:sym typeface="Roboto"/>
              </a:rPr>
              <a:t>Line graph: Year vs Name Count</a:t>
            </a:r>
            <a:endParaRPr sz="1200">
              <a:latin typeface="Roboto"/>
              <a:ea typeface="Roboto"/>
              <a:cs typeface="Roboto"/>
              <a:sym typeface="Roboto"/>
            </a:endParaRPr>
          </a:p>
          <a:p>
            <a:pPr indent="-304800" lvl="0" marL="457200" rtl="0" algn="l">
              <a:lnSpc>
                <a:spcPct val="115000"/>
              </a:lnSpc>
              <a:spcBef>
                <a:spcPts val="0"/>
              </a:spcBef>
              <a:spcAft>
                <a:spcPts val="0"/>
              </a:spcAft>
              <a:buClr>
                <a:srgbClr val="000000"/>
              </a:buClr>
              <a:buSzPts val="1200"/>
              <a:buFont typeface="Roboto"/>
              <a:buChar char="●"/>
            </a:pPr>
            <a:r>
              <a:rPr lang="en" sz="1200">
                <a:latin typeface="Roboto"/>
                <a:ea typeface="Roboto"/>
                <a:cs typeface="Roboto"/>
                <a:sym typeface="Roboto"/>
              </a:rPr>
              <a:t>Trend line showing projected direction</a:t>
            </a:r>
            <a:endParaRPr sz="1200">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570"/>
              <a:t>Rough Justification: </a:t>
            </a:r>
            <a:r>
              <a:rPr b="1" lang="en" sz="1570"/>
              <a:t>What does past trend data suggest about a name’s future popularity?</a:t>
            </a:r>
            <a:endParaRPr b="1" sz="1570"/>
          </a:p>
          <a:p>
            <a:pPr indent="0" lvl="0" marL="0" rtl="0" algn="l">
              <a:spcBef>
                <a:spcPts val="0"/>
              </a:spcBef>
              <a:spcAft>
                <a:spcPts val="0"/>
              </a:spcAft>
              <a:buSzPts val="990"/>
              <a:buNone/>
            </a:pPr>
            <a:r>
              <a:t/>
            </a:r>
            <a:endParaRPr b="1" sz="1570"/>
          </a:p>
        </p:txBody>
      </p:sp>
      <p:sp>
        <p:nvSpPr>
          <p:cNvPr id="185" name="Google Shape;185;p27"/>
          <p:cNvSpPr txBox="1"/>
          <p:nvPr/>
        </p:nvSpPr>
        <p:spPr>
          <a:xfrm>
            <a:off x="429250" y="1233275"/>
            <a:ext cx="30000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Roboto"/>
                <a:ea typeface="Roboto"/>
                <a:cs typeface="Roboto"/>
                <a:sym typeface="Roboto"/>
              </a:rPr>
              <a:t>This graph shows Olivia’s popularity as a percentage of total births over time. The moving average smooths the yearly changes, while the projected trend estimates future popularity based on recent patterns. I expect the name to remain popular, but the trend may begin to level off instead of continuing to rise sharply. </a:t>
            </a:r>
            <a:endParaRPr sz="1500">
              <a:latin typeface="Roboto"/>
              <a:ea typeface="Roboto"/>
              <a:cs typeface="Roboto"/>
              <a:sym typeface="Roboto"/>
            </a:endParaRPr>
          </a:p>
        </p:txBody>
      </p:sp>
      <p:sp>
        <p:nvSpPr>
          <p:cNvPr id="186" name="Google Shape;186;p27"/>
          <p:cNvSpPr txBox="1"/>
          <p:nvPr/>
        </p:nvSpPr>
        <p:spPr>
          <a:xfrm>
            <a:off x="4775063" y="3370325"/>
            <a:ext cx="3000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Roboto"/>
                <a:ea typeface="Roboto"/>
                <a:cs typeface="Roboto"/>
                <a:sym typeface="Roboto"/>
              </a:rPr>
              <a:t>Figure 2: Future Prediction</a:t>
            </a:r>
            <a:endParaRPr sz="900">
              <a:latin typeface="Roboto"/>
              <a:ea typeface="Roboto"/>
              <a:cs typeface="Roboto"/>
              <a:sym typeface="Roboto"/>
            </a:endParaRPr>
          </a:p>
        </p:txBody>
      </p:sp>
      <p:pic>
        <p:nvPicPr>
          <p:cNvPr id="187" name="Google Shape;187;p27"/>
          <p:cNvPicPr preferRelativeResize="0"/>
          <p:nvPr/>
        </p:nvPicPr>
        <p:blipFill>
          <a:blip r:embed="rId3">
            <a:alphaModFix/>
          </a:blip>
          <a:stretch>
            <a:fillRect/>
          </a:stretch>
        </p:blipFill>
        <p:spPr>
          <a:xfrm>
            <a:off x="3980325" y="970550"/>
            <a:ext cx="4399949" cy="2399774"/>
          </a:xfrm>
          <a:prstGeom prst="rect">
            <a:avLst/>
          </a:prstGeom>
          <a:noFill/>
          <a:ln cap="flat" cmpd="sng" w="19050">
            <a:solidFill>
              <a:schemeClr val="dk2"/>
            </a:solidFill>
            <a:prstDash val="solid"/>
            <a:round/>
            <a:headEnd len="sm" w="sm" type="none"/>
            <a:tailEnd len="sm" w="sm" type="none"/>
          </a:ln>
        </p:spPr>
      </p:pic>
      <p:sp>
        <p:nvSpPr>
          <p:cNvPr id="188" name="Google Shape;188;p27"/>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222"/>
              <a:t>Sketches at Answers: </a:t>
            </a:r>
            <a:r>
              <a:rPr b="1" lang="en" sz="2222"/>
              <a:t>What does past trend data suggest about a name’s future popularity?</a:t>
            </a:r>
            <a:endParaRPr b="1" sz="2222"/>
          </a:p>
          <a:p>
            <a:pPr indent="0" lvl="0" marL="0" rtl="0" algn="l">
              <a:spcBef>
                <a:spcPts val="0"/>
              </a:spcBef>
              <a:spcAft>
                <a:spcPts val="0"/>
              </a:spcAft>
              <a:buNone/>
            </a:pPr>
            <a:r>
              <a:rPr lang="en"/>
              <a:t> </a:t>
            </a:r>
            <a:endParaRPr/>
          </a:p>
        </p:txBody>
      </p:sp>
      <p:pic>
        <p:nvPicPr>
          <p:cNvPr id="194" name="Google Shape;194;p28"/>
          <p:cNvPicPr preferRelativeResize="0"/>
          <p:nvPr/>
        </p:nvPicPr>
        <p:blipFill>
          <a:blip r:embed="rId3">
            <a:alphaModFix/>
          </a:blip>
          <a:stretch>
            <a:fillRect/>
          </a:stretch>
        </p:blipFill>
        <p:spPr>
          <a:xfrm>
            <a:off x="494850" y="1225525"/>
            <a:ext cx="6049101" cy="3257901"/>
          </a:xfrm>
          <a:prstGeom prst="rect">
            <a:avLst/>
          </a:prstGeom>
          <a:noFill/>
          <a:ln>
            <a:noFill/>
          </a:ln>
        </p:spPr>
      </p:pic>
      <p:sp>
        <p:nvSpPr>
          <p:cNvPr id="195" name="Google Shape;195;p28"/>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222"/>
              <a:t>Sketches at Answers: </a:t>
            </a:r>
            <a:r>
              <a:rPr b="1" lang="en" sz="2222"/>
              <a:t>What does past trend data suggest about a name’s future popularity?</a:t>
            </a:r>
            <a:endParaRPr b="1" sz="2222"/>
          </a:p>
          <a:p>
            <a:pPr indent="0" lvl="0" marL="0" rtl="0" algn="l">
              <a:spcBef>
                <a:spcPts val="0"/>
              </a:spcBef>
              <a:spcAft>
                <a:spcPts val="0"/>
              </a:spcAft>
              <a:buNone/>
            </a:pPr>
            <a:r>
              <a:rPr lang="en"/>
              <a:t> </a:t>
            </a:r>
            <a:endParaRPr/>
          </a:p>
        </p:txBody>
      </p:sp>
      <p:pic>
        <p:nvPicPr>
          <p:cNvPr id="201" name="Google Shape;201;p29"/>
          <p:cNvPicPr preferRelativeResize="0"/>
          <p:nvPr/>
        </p:nvPicPr>
        <p:blipFill>
          <a:blip r:embed="rId3">
            <a:alphaModFix/>
          </a:blip>
          <a:stretch>
            <a:fillRect/>
          </a:stretch>
        </p:blipFill>
        <p:spPr>
          <a:xfrm>
            <a:off x="705100" y="1149800"/>
            <a:ext cx="5642876" cy="3555425"/>
          </a:xfrm>
          <a:prstGeom prst="rect">
            <a:avLst/>
          </a:prstGeom>
          <a:noFill/>
          <a:ln>
            <a:noFill/>
          </a:ln>
        </p:spPr>
      </p:pic>
      <p:sp>
        <p:nvSpPr>
          <p:cNvPr id="202" name="Google Shape;202;p29"/>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770"/>
              <a:t>Rough Justification: </a:t>
            </a:r>
            <a:r>
              <a:rPr b="1" lang="en" sz="1770"/>
              <a:t>How has the distribution of baby names changed over time?</a:t>
            </a:r>
            <a:endParaRPr b="1" sz="1770"/>
          </a:p>
        </p:txBody>
      </p:sp>
      <p:sp>
        <p:nvSpPr>
          <p:cNvPr id="208" name="Google Shape;208;p30"/>
          <p:cNvSpPr txBox="1"/>
          <p:nvPr/>
        </p:nvSpPr>
        <p:spPr>
          <a:xfrm>
            <a:off x="429250" y="1233275"/>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A decreasing line over time means names are becoming more diverse, fewer babies are being given the same top 10 names. </a:t>
            </a:r>
            <a:endParaRPr>
              <a:latin typeface="Roboto"/>
              <a:ea typeface="Roboto"/>
              <a:cs typeface="Roboto"/>
              <a:sym typeface="Roboto"/>
            </a:endParaRPr>
          </a:p>
        </p:txBody>
      </p:sp>
      <p:sp>
        <p:nvSpPr>
          <p:cNvPr id="209" name="Google Shape;209;p30"/>
          <p:cNvSpPr txBox="1"/>
          <p:nvPr/>
        </p:nvSpPr>
        <p:spPr>
          <a:xfrm>
            <a:off x="4732025" y="3520800"/>
            <a:ext cx="3000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Roboto"/>
                <a:ea typeface="Roboto"/>
                <a:cs typeface="Roboto"/>
                <a:sym typeface="Roboto"/>
              </a:rPr>
              <a:t>Figure 2: Name Diversity Graph</a:t>
            </a:r>
            <a:endParaRPr sz="900">
              <a:latin typeface="Roboto"/>
              <a:ea typeface="Roboto"/>
              <a:cs typeface="Roboto"/>
              <a:sym typeface="Roboto"/>
            </a:endParaRPr>
          </a:p>
        </p:txBody>
      </p:sp>
      <p:pic>
        <p:nvPicPr>
          <p:cNvPr id="210" name="Google Shape;210;p30" title="Screenshot 2026-05-01 151027.png"/>
          <p:cNvPicPr preferRelativeResize="0"/>
          <p:nvPr/>
        </p:nvPicPr>
        <p:blipFill>
          <a:blip r:embed="rId3">
            <a:alphaModFix/>
          </a:blip>
          <a:stretch>
            <a:fillRect/>
          </a:stretch>
        </p:blipFill>
        <p:spPr>
          <a:xfrm>
            <a:off x="4685850" y="1127175"/>
            <a:ext cx="3349352" cy="2429599"/>
          </a:xfrm>
          <a:prstGeom prst="rect">
            <a:avLst/>
          </a:prstGeom>
          <a:noFill/>
          <a:ln cap="flat" cmpd="sng" w="19050">
            <a:solidFill>
              <a:schemeClr val="dk2"/>
            </a:solidFill>
            <a:prstDash val="solid"/>
            <a:round/>
            <a:headEnd len="sm" w="sm" type="none"/>
            <a:tailEnd len="sm" w="sm" type="none"/>
          </a:ln>
        </p:spPr>
      </p:pic>
      <p:sp>
        <p:nvSpPr>
          <p:cNvPr id="211" name="Google Shape;211;p30"/>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SzPct val="43043"/>
              <a:buFont typeface="Arial"/>
              <a:buNone/>
            </a:pPr>
            <a:r>
              <a:rPr b="1" lang="en" sz="2300"/>
              <a:t>Sketches at Answers: </a:t>
            </a:r>
            <a:r>
              <a:rPr b="1" lang="en" sz="2300"/>
              <a:t>How has the distribution of baby names changed over time?</a:t>
            </a:r>
            <a:endParaRPr/>
          </a:p>
        </p:txBody>
      </p:sp>
      <p:pic>
        <p:nvPicPr>
          <p:cNvPr id="217" name="Google Shape;217;p31"/>
          <p:cNvPicPr preferRelativeResize="0"/>
          <p:nvPr/>
        </p:nvPicPr>
        <p:blipFill>
          <a:blip r:embed="rId3">
            <a:alphaModFix/>
          </a:blip>
          <a:stretch>
            <a:fillRect/>
          </a:stretch>
        </p:blipFill>
        <p:spPr>
          <a:xfrm>
            <a:off x="1617237" y="1278700"/>
            <a:ext cx="5909524" cy="2586100"/>
          </a:xfrm>
          <a:prstGeom prst="rect">
            <a:avLst/>
          </a:prstGeom>
          <a:noFill/>
          <a:ln>
            <a:noFill/>
          </a:ln>
        </p:spPr>
      </p:pic>
      <p:sp>
        <p:nvSpPr>
          <p:cNvPr id="218" name="Google Shape;218;p31"/>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300"/>
              <a:t>Sketches at Answers: How has the distribution of baby names changed over time?</a:t>
            </a:r>
            <a:endParaRPr/>
          </a:p>
          <a:p>
            <a:pPr indent="0" lvl="0" marL="0" rtl="0" algn="l">
              <a:spcBef>
                <a:spcPts val="0"/>
              </a:spcBef>
              <a:spcAft>
                <a:spcPts val="0"/>
              </a:spcAft>
              <a:buNone/>
            </a:pPr>
            <a:r>
              <a:t/>
            </a:r>
            <a:endParaRPr/>
          </a:p>
        </p:txBody>
      </p:sp>
      <p:pic>
        <p:nvPicPr>
          <p:cNvPr id="224" name="Google Shape;224;p32" title="Screenshot 2026-05-01 151027.png"/>
          <p:cNvPicPr preferRelativeResize="0"/>
          <p:nvPr/>
        </p:nvPicPr>
        <p:blipFill>
          <a:blip r:embed="rId3">
            <a:alphaModFix/>
          </a:blip>
          <a:stretch>
            <a:fillRect/>
          </a:stretch>
        </p:blipFill>
        <p:spPr>
          <a:xfrm>
            <a:off x="1145325" y="1280924"/>
            <a:ext cx="5165001" cy="3107375"/>
          </a:xfrm>
          <a:prstGeom prst="rect">
            <a:avLst/>
          </a:prstGeom>
          <a:noFill/>
          <a:ln cap="flat" cmpd="sng" w="19050">
            <a:solidFill>
              <a:schemeClr val="dk2"/>
            </a:solidFill>
            <a:prstDash val="solid"/>
            <a:round/>
            <a:headEnd len="sm" w="sm" type="none"/>
            <a:tailEnd len="sm" w="sm" type="none"/>
          </a:ln>
        </p:spPr>
      </p:pic>
      <p:sp>
        <p:nvSpPr>
          <p:cNvPr id="225" name="Google Shape;225;p32"/>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3"/>
          <p:cNvSpPr txBox="1"/>
          <p:nvPr>
            <p:ph type="title"/>
          </p:nvPr>
        </p:nvSpPr>
        <p:spPr>
          <a:xfrm>
            <a:off x="311700" y="25125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300"/>
              <a:t>Rough Justification: </a:t>
            </a:r>
            <a:r>
              <a:rPr b="1" lang="en" sz="2300"/>
              <a:t>How do individual baby names differ in their rise, peak, and decline patterns over time?</a:t>
            </a:r>
            <a:endParaRPr b="1" sz="2300"/>
          </a:p>
        </p:txBody>
      </p:sp>
      <p:pic>
        <p:nvPicPr>
          <p:cNvPr id="231" name="Google Shape;231;p33"/>
          <p:cNvPicPr preferRelativeResize="0"/>
          <p:nvPr/>
        </p:nvPicPr>
        <p:blipFill>
          <a:blip r:embed="rId3">
            <a:alphaModFix/>
          </a:blip>
          <a:stretch>
            <a:fillRect/>
          </a:stretch>
        </p:blipFill>
        <p:spPr>
          <a:xfrm>
            <a:off x="4020827" y="1052777"/>
            <a:ext cx="4116026" cy="2455775"/>
          </a:xfrm>
          <a:prstGeom prst="rect">
            <a:avLst/>
          </a:prstGeom>
          <a:noFill/>
          <a:ln cap="flat" cmpd="sng" w="19050">
            <a:solidFill>
              <a:srgbClr val="434343"/>
            </a:solidFill>
            <a:prstDash val="solid"/>
            <a:round/>
            <a:headEnd len="sm" w="sm" type="none"/>
            <a:tailEnd len="sm" w="sm" type="none"/>
          </a:ln>
        </p:spPr>
      </p:pic>
      <p:sp>
        <p:nvSpPr>
          <p:cNvPr id="232" name="Google Shape;232;p33"/>
          <p:cNvSpPr txBox="1"/>
          <p:nvPr/>
        </p:nvSpPr>
        <p:spPr>
          <a:xfrm>
            <a:off x="429250" y="1233275"/>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For this example I took the 3 most popular female names in 1880 and created a rough estimate of how the popularity of their name changed over time. </a:t>
            </a:r>
            <a:endParaRPr>
              <a:latin typeface="Roboto"/>
              <a:ea typeface="Roboto"/>
              <a:cs typeface="Roboto"/>
              <a:sym typeface="Roboto"/>
            </a:endParaRPr>
          </a:p>
        </p:txBody>
      </p:sp>
      <p:sp>
        <p:nvSpPr>
          <p:cNvPr id="233" name="Google Shape;233;p33"/>
          <p:cNvSpPr txBox="1"/>
          <p:nvPr/>
        </p:nvSpPr>
        <p:spPr>
          <a:xfrm>
            <a:off x="4578825" y="3462250"/>
            <a:ext cx="3000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Roboto"/>
                <a:ea typeface="Roboto"/>
                <a:cs typeface="Roboto"/>
                <a:sym typeface="Roboto"/>
              </a:rPr>
              <a:t>Figure 1: Example Name Popularity Graph</a:t>
            </a:r>
            <a:endParaRPr sz="900">
              <a:latin typeface="Roboto"/>
              <a:ea typeface="Roboto"/>
              <a:cs typeface="Roboto"/>
              <a:sym typeface="Roboto"/>
            </a:endParaRPr>
          </a:p>
        </p:txBody>
      </p:sp>
      <p:sp>
        <p:nvSpPr>
          <p:cNvPr id="234" name="Google Shape;234;p33"/>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300"/>
              <a:t>Sketches</a:t>
            </a:r>
            <a:r>
              <a:rPr b="1" lang="en" sz="2300"/>
              <a:t> at Answers: How do individual baby names differ in their rise, peak, and decline patterns over time?</a:t>
            </a:r>
            <a:endParaRPr b="1" sz="2300"/>
          </a:p>
        </p:txBody>
      </p:sp>
      <p:pic>
        <p:nvPicPr>
          <p:cNvPr id="240" name="Google Shape;240;p34"/>
          <p:cNvPicPr preferRelativeResize="0"/>
          <p:nvPr/>
        </p:nvPicPr>
        <p:blipFill>
          <a:blip r:embed="rId3">
            <a:alphaModFix/>
          </a:blip>
          <a:stretch>
            <a:fillRect/>
          </a:stretch>
        </p:blipFill>
        <p:spPr>
          <a:xfrm>
            <a:off x="688775" y="1235400"/>
            <a:ext cx="5978750" cy="3116700"/>
          </a:xfrm>
          <a:prstGeom prst="rect">
            <a:avLst/>
          </a:prstGeom>
          <a:noFill/>
          <a:ln cap="flat" cmpd="sng" w="19050">
            <a:solidFill>
              <a:schemeClr val="dk2"/>
            </a:solidFill>
            <a:prstDash val="solid"/>
            <a:round/>
            <a:headEnd len="sm" w="sm" type="none"/>
            <a:tailEnd len="sm" w="sm" type="none"/>
          </a:ln>
        </p:spPr>
      </p:pic>
      <p:sp>
        <p:nvSpPr>
          <p:cNvPr id="241" name="Google Shape;241;p34"/>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300"/>
              <a:t>Sketches at Answers: How do individual baby names differ in their rise, peak, and decline patterns over time?</a:t>
            </a:r>
            <a:endParaRPr/>
          </a:p>
        </p:txBody>
      </p:sp>
      <p:pic>
        <p:nvPicPr>
          <p:cNvPr id="247" name="Google Shape;247;p35"/>
          <p:cNvPicPr preferRelativeResize="0"/>
          <p:nvPr/>
        </p:nvPicPr>
        <p:blipFill>
          <a:blip r:embed="rId3">
            <a:alphaModFix/>
          </a:blip>
          <a:stretch>
            <a:fillRect/>
          </a:stretch>
        </p:blipFill>
        <p:spPr>
          <a:xfrm>
            <a:off x="395275" y="1593913"/>
            <a:ext cx="8353451" cy="1955665"/>
          </a:xfrm>
          <a:prstGeom prst="rect">
            <a:avLst/>
          </a:prstGeom>
          <a:noFill/>
          <a:ln>
            <a:noFill/>
          </a:ln>
        </p:spPr>
      </p:pic>
      <p:sp>
        <p:nvSpPr>
          <p:cNvPr id="248" name="Google Shape;248;p35"/>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Data Decisions</a:t>
            </a:r>
            <a:r>
              <a:rPr b="1" lang="en" sz="2000"/>
              <a:t>: What does past trend data suggest about a name’s future popularity?</a:t>
            </a:r>
            <a:endParaRPr b="1" sz="2000"/>
          </a:p>
          <a:p>
            <a:pPr indent="0" lvl="0" marL="0" rtl="0" algn="l">
              <a:spcBef>
                <a:spcPts val="0"/>
              </a:spcBef>
              <a:spcAft>
                <a:spcPts val="0"/>
              </a:spcAft>
              <a:buNone/>
            </a:pPr>
            <a:r>
              <a:t/>
            </a:r>
            <a:endParaRPr/>
          </a:p>
        </p:txBody>
      </p:sp>
      <p:sp>
        <p:nvSpPr>
          <p:cNvPr id="254" name="Google Shape;254;p3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solidFill>
                  <a:srgbClr val="000000"/>
                </a:solidFill>
                <a:latin typeface="Arial"/>
                <a:ea typeface="Arial"/>
                <a:cs typeface="Arial"/>
                <a:sym typeface="Arial"/>
              </a:rPr>
              <a:t>Answer found:</a:t>
            </a:r>
            <a:r>
              <a:rPr lang="en" sz="1300">
                <a:solidFill>
                  <a:srgbClr val="000000"/>
                </a:solidFill>
                <a:latin typeface="Arial"/>
                <a:ea typeface="Arial"/>
                <a:cs typeface="Arial"/>
                <a:sym typeface="Arial"/>
              </a:rPr>
              <a:t> Yes. All five names analyzed show a decreasing trend. Michael is declining at -19.55% growth rate, Jessica at -43.39%, and James, the slowest, at -6.79%</a:t>
            </a:r>
            <a:endParaRPr sz="1300">
              <a:solidFill>
                <a:srgbClr val="000000"/>
              </a:solidFill>
              <a:latin typeface="Arial"/>
              <a:ea typeface="Arial"/>
              <a:cs typeface="Arial"/>
              <a:sym typeface="Arial"/>
            </a:endParaRPr>
          </a:p>
          <a:p>
            <a:pPr indent="0" lvl="0" marL="0" rtl="0" algn="l">
              <a:spcBef>
                <a:spcPts val="1200"/>
              </a:spcBef>
              <a:spcAft>
                <a:spcPts val="0"/>
              </a:spcAft>
              <a:buNone/>
            </a:pPr>
            <a:r>
              <a:rPr b="1" lang="en" sz="1300">
                <a:solidFill>
                  <a:srgbClr val="000000"/>
                </a:solidFill>
                <a:latin typeface="Arial"/>
                <a:ea typeface="Arial"/>
                <a:cs typeface="Arial"/>
                <a:sym typeface="Arial"/>
              </a:rPr>
              <a:t>Expected relationship:</a:t>
            </a:r>
            <a:r>
              <a:rPr lang="en" sz="1300">
                <a:solidFill>
                  <a:srgbClr val="000000"/>
                </a:solidFill>
                <a:latin typeface="Arial"/>
                <a:ea typeface="Arial"/>
                <a:cs typeface="Arial"/>
                <a:sym typeface="Arial"/>
              </a:rPr>
              <a:t> It was expected that past trends would continue into the future — the linear projections support this, though the model assumes a straight-line decline which may oversimplify reality</a:t>
            </a:r>
            <a:endParaRPr sz="1300">
              <a:solidFill>
                <a:srgbClr val="000000"/>
              </a:solidFill>
              <a:latin typeface="Arial"/>
              <a:ea typeface="Arial"/>
              <a:cs typeface="Arial"/>
              <a:sym typeface="Arial"/>
            </a:endParaRPr>
          </a:p>
          <a:p>
            <a:pPr indent="0" lvl="0" marL="0" rtl="0" algn="l">
              <a:spcBef>
                <a:spcPts val="1200"/>
              </a:spcBef>
              <a:spcAft>
                <a:spcPts val="0"/>
              </a:spcAft>
              <a:buNone/>
            </a:pPr>
            <a:r>
              <a:rPr b="1" lang="en" sz="1300">
                <a:solidFill>
                  <a:srgbClr val="000000"/>
                </a:solidFill>
                <a:latin typeface="Arial"/>
                <a:ea typeface="Arial"/>
                <a:cs typeface="Arial"/>
                <a:sym typeface="Arial"/>
              </a:rPr>
              <a:t>Clear conclusion:</a:t>
            </a:r>
            <a:r>
              <a:rPr lang="en" sz="1300">
                <a:solidFill>
                  <a:srgbClr val="000000"/>
                </a:solidFill>
                <a:latin typeface="Arial"/>
                <a:ea typeface="Arial"/>
                <a:cs typeface="Arial"/>
                <a:sym typeface="Arial"/>
              </a:rPr>
              <a:t> Yes — all analyzed names are projected to continue declining in popularity through 2029. James will decline the slowest due to its long cultural staying power, while Jessica is projected to nearly disappear by 2029</a:t>
            </a:r>
            <a:endParaRPr sz="13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990"/>
              <a:buFont typeface="Arial"/>
              <a:buNone/>
            </a:pPr>
            <a:r>
              <a:rPr b="1" lang="en" sz="2000"/>
              <a:t>Data Decisions</a:t>
            </a:r>
            <a:r>
              <a:rPr b="1" lang="en" sz="2000"/>
              <a:t>: How has the distribution of baby names changed over time?</a:t>
            </a:r>
            <a:endParaRPr b="1" sz="2000"/>
          </a:p>
          <a:p>
            <a:pPr indent="0" lvl="0" marL="0" rtl="0" algn="l">
              <a:spcBef>
                <a:spcPts val="0"/>
              </a:spcBef>
              <a:spcAft>
                <a:spcPts val="0"/>
              </a:spcAft>
              <a:buNone/>
            </a:pPr>
            <a:r>
              <a:t/>
            </a:r>
            <a:endParaRPr/>
          </a:p>
        </p:txBody>
      </p:sp>
      <p:sp>
        <p:nvSpPr>
          <p:cNvPr id="260" name="Google Shape;260;p3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solidFill>
                  <a:srgbClr val="000000"/>
                </a:solidFill>
                <a:latin typeface="Arial"/>
                <a:ea typeface="Arial"/>
                <a:cs typeface="Arial"/>
                <a:sym typeface="Arial"/>
              </a:rPr>
              <a:t>Answer found:</a:t>
            </a:r>
            <a:r>
              <a:rPr lang="en" sz="1300">
                <a:solidFill>
                  <a:srgbClr val="000000"/>
                </a:solidFill>
                <a:latin typeface="Arial"/>
                <a:ea typeface="Arial"/>
                <a:cs typeface="Arial"/>
                <a:sym typeface="Arial"/>
              </a:rPr>
              <a:t> Yes, very clearly. In 1880 the top 10 names accounted for 26.6% of all births. By 2023 that dropped to just 4.3% — a decline of 22.2 percentage points</a:t>
            </a:r>
            <a:endParaRPr sz="1300">
              <a:solidFill>
                <a:srgbClr val="000000"/>
              </a:solidFill>
              <a:latin typeface="Arial"/>
              <a:ea typeface="Arial"/>
              <a:cs typeface="Arial"/>
              <a:sym typeface="Arial"/>
            </a:endParaRPr>
          </a:p>
          <a:p>
            <a:pPr indent="0" lvl="0" marL="0" rtl="0" algn="l">
              <a:spcBef>
                <a:spcPts val="1200"/>
              </a:spcBef>
              <a:spcAft>
                <a:spcPts val="0"/>
              </a:spcAft>
              <a:buNone/>
            </a:pPr>
            <a:r>
              <a:rPr b="1" lang="en" sz="1300">
                <a:solidFill>
                  <a:srgbClr val="000000"/>
                </a:solidFill>
                <a:latin typeface="Arial"/>
                <a:ea typeface="Arial"/>
                <a:cs typeface="Arial"/>
                <a:sym typeface="Arial"/>
              </a:rPr>
              <a:t>Expected relationship:</a:t>
            </a:r>
            <a:r>
              <a:rPr lang="en" sz="1300">
                <a:solidFill>
                  <a:srgbClr val="000000"/>
                </a:solidFill>
                <a:latin typeface="Arial"/>
                <a:ea typeface="Arial"/>
                <a:cs typeface="Arial"/>
                <a:sym typeface="Arial"/>
              </a:rPr>
              <a:t> It was expected that names would become more diverse over time — this was strongly confirmed</a:t>
            </a:r>
            <a:endParaRPr sz="1300">
              <a:solidFill>
                <a:srgbClr val="000000"/>
              </a:solidFill>
              <a:latin typeface="Arial"/>
              <a:ea typeface="Arial"/>
              <a:cs typeface="Arial"/>
              <a:sym typeface="Arial"/>
            </a:endParaRPr>
          </a:p>
          <a:p>
            <a:pPr indent="0" lvl="0" marL="0" rtl="0" algn="l">
              <a:spcBef>
                <a:spcPts val="1200"/>
              </a:spcBef>
              <a:spcAft>
                <a:spcPts val="0"/>
              </a:spcAft>
              <a:buNone/>
            </a:pPr>
            <a:r>
              <a:rPr b="1" lang="en" sz="1300">
                <a:solidFill>
                  <a:srgbClr val="000000"/>
                </a:solidFill>
                <a:latin typeface="Arial"/>
                <a:ea typeface="Arial"/>
                <a:cs typeface="Arial"/>
                <a:sym typeface="Arial"/>
              </a:rPr>
              <a:t>Clear conclusion:</a:t>
            </a:r>
            <a:r>
              <a:rPr lang="en" sz="1300">
                <a:solidFill>
                  <a:srgbClr val="000000"/>
                </a:solidFill>
                <a:latin typeface="Arial"/>
                <a:ea typeface="Arial"/>
                <a:cs typeface="Arial"/>
                <a:sym typeface="Arial"/>
              </a:rPr>
              <a:t> Yes — name diversity has increased consistently every decade, with the sharpest drop occurring after the 1950s. Parents today choose from a far wider range of names than in previous generations</a:t>
            </a:r>
            <a:endParaRPr sz="13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250"/>
              <a:t>Data Decisions: </a:t>
            </a:r>
            <a:r>
              <a:rPr b="1" lang="en" sz="2250"/>
              <a:t> How do individual baby names differ in their rise, peak, and decline patterns over time?</a:t>
            </a:r>
            <a:endParaRPr b="1" sz="2250"/>
          </a:p>
          <a:p>
            <a:pPr indent="0" lvl="0" marL="0" rtl="0" algn="l">
              <a:spcBef>
                <a:spcPts val="0"/>
              </a:spcBef>
              <a:spcAft>
                <a:spcPts val="0"/>
              </a:spcAft>
              <a:buNone/>
            </a:pPr>
            <a:r>
              <a:t/>
            </a:r>
            <a:endParaRPr/>
          </a:p>
        </p:txBody>
      </p:sp>
      <p:sp>
        <p:nvSpPr>
          <p:cNvPr id="266" name="Google Shape;266;p3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300">
                <a:solidFill>
                  <a:srgbClr val="000000"/>
                </a:solidFill>
                <a:latin typeface="Arial"/>
                <a:ea typeface="Arial"/>
                <a:cs typeface="Arial"/>
                <a:sym typeface="Arial"/>
              </a:rPr>
              <a:t>Answer found:</a:t>
            </a:r>
            <a:r>
              <a:rPr lang="en" sz="1300">
                <a:solidFill>
                  <a:srgbClr val="000000"/>
                </a:solidFill>
                <a:latin typeface="Arial"/>
                <a:ea typeface="Arial"/>
                <a:cs typeface="Arial"/>
                <a:sym typeface="Arial"/>
              </a:rPr>
              <a:t> Yes, names differ significantly in their </a:t>
            </a:r>
            <a:r>
              <a:rPr lang="en" sz="1300">
                <a:solidFill>
                  <a:srgbClr val="000000"/>
                </a:solidFill>
                <a:latin typeface="Arial"/>
                <a:ea typeface="Arial"/>
                <a:cs typeface="Arial"/>
                <a:sym typeface="Arial"/>
              </a:rPr>
              <a:t>life cycle</a:t>
            </a:r>
            <a:r>
              <a:rPr lang="en" sz="1300">
                <a:solidFill>
                  <a:srgbClr val="000000"/>
                </a:solidFill>
                <a:latin typeface="Arial"/>
                <a:ea typeface="Arial"/>
                <a:cs typeface="Arial"/>
                <a:sym typeface="Arial"/>
              </a:rPr>
              <a:t> patterns. Michael peaked in 1957 at 93,041 births and took 37 years to decline 50%, while Jessica and Ashley both peaked in 1987 and declined within just 8 years despite similar peak counts</a:t>
            </a:r>
            <a:endParaRPr sz="1300">
              <a:solidFill>
                <a:srgbClr val="000000"/>
              </a:solidFill>
              <a:latin typeface="Arial"/>
              <a:ea typeface="Arial"/>
              <a:cs typeface="Arial"/>
              <a:sym typeface="Arial"/>
            </a:endParaRPr>
          </a:p>
          <a:p>
            <a:pPr indent="0" lvl="0" marL="0" rtl="0" algn="l">
              <a:spcBef>
                <a:spcPts val="1200"/>
              </a:spcBef>
              <a:spcAft>
                <a:spcPts val="0"/>
              </a:spcAft>
              <a:buNone/>
            </a:pPr>
            <a:r>
              <a:rPr b="1" lang="en" sz="1300">
                <a:solidFill>
                  <a:srgbClr val="000000"/>
                </a:solidFill>
                <a:latin typeface="Arial"/>
                <a:ea typeface="Arial"/>
                <a:cs typeface="Arial"/>
                <a:sym typeface="Arial"/>
              </a:rPr>
              <a:t>Expected relationship:</a:t>
            </a:r>
            <a:r>
              <a:rPr lang="en" sz="1300">
                <a:solidFill>
                  <a:srgbClr val="000000"/>
                </a:solidFill>
                <a:latin typeface="Arial"/>
                <a:ea typeface="Arial"/>
                <a:cs typeface="Arial"/>
                <a:sym typeface="Arial"/>
              </a:rPr>
              <a:t> It was expected that higher peak counts would mean longer lifespans — this was partially confirmed by Michael and James, but Ashley and Jessica contradicted this</a:t>
            </a:r>
            <a:endParaRPr sz="1300">
              <a:solidFill>
                <a:srgbClr val="000000"/>
              </a:solidFill>
              <a:latin typeface="Arial"/>
              <a:ea typeface="Arial"/>
              <a:cs typeface="Arial"/>
              <a:sym typeface="Arial"/>
            </a:endParaRPr>
          </a:p>
          <a:p>
            <a:pPr indent="0" lvl="0" marL="0" rtl="0" algn="l">
              <a:spcBef>
                <a:spcPts val="1200"/>
              </a:spcBef>
              <a:spcAft>
                <a:spcPts val="0"/>
              </a:spcAft>
              <a:buNone/>
            </a:pPr>
            <a:r>
              <a:rPr b="1" lang="en" sz="1300">
                <a:solidFill>
                  <a:srgbClr val="000000"/>
                </a:solidFill>
                <a:latin typeface="Arial"/>
                <a:ea typeface="Arial"/>
                <a:cs typeface="Arial"/>
                <a:sym typeface="Arial"/>
              </a:rPr>
              <a:t>Clear conclusion:</a:t>
            </a:r>
            <a:r>
              <a:rPr lang="en" sz="1300">
                <a:solidFill>
                  <a:srgbClr val="000000"/>
                </a:solidFill>
                <a:latin typeface="Arial"/>
                <a:ea typeface="Arial"/>
                <a:cs typeface="Arial"/>
                <a:sym typeface="Arial"/>
              </a:rPr>
              <a:t> Yes — names that peaked in earlier decades (pre-1960s) tend to have much longer popularity lifespans than names that peaked in the 1980s-90s, suggesting cultural naming trends have accelerated over time</a:t>
            </a:r>
            <a:endParaRPr sz="13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 of Process</a:t>
            </a:r>
            <a:endParaRPr/>
          </a:p>
        </p:txBody>
      </p:sp>
      <p:sp>
        <p:nvSpPr>
          <p:cNvPr id="272" name="Google Shape;272;p3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Working with 145 real-world data files was more challenging than expected — issues like file paths, column names, and encoding problems had to be solved before any analysis could begin</a:t>
            </a:r>
            <a:endParaRPr/>
          </a:p>
          <a:p>
            <a:pPr indent="0" lvl="0" marL="0" rtl="0" algn="l">
              <a:spcBef>
                <a:spcPts val="1200"/>
              </a:spcBef>
              <a:spcAft>
                <a:spcPts val="0"/>
              </a:spcAft>
              <a:buNone/>
            </a:pPr>
            <a:r>
              <a:rPr lang="en"/>
              <a:t>The most surprising finding was that names peaking in the 1980s declined much faster than older names, which was not the initial expectation</a:t>
            </a:r>
            <a:endParaRPr/>
          </a:p>
          <a:p>
            <a:pPr indent="0" lvl="0" marL="0" rtl="0" algn="l">
              <a:spcBef>
                <a:spcPts val="1200"/>
              </a:spcBef>
              <a:spcAft>
                <a:spcPts val="0"/>
              </a:spcAft>
              <a:buNone/>
            </a:pPr>
            <a:r>
              <a:rPr lang="en"/>
              <a:t>This process showed that data rarely behaves exactly as expected — Ashley and Jessica had similar peak counts to Michael but completely different lifespans, proving that raw numbers alone don't tell the whole story</a:t>
            </a:r>
            <a:endParaRPr/>
          </a:p>
          <a:p>
            <a:pPr indent="0" lvl="0" marL="0" rtl="0" algn="l">
              <a:spcBef>
                <a:spcPts val="1200"/>
              </a:spcBef>
              <a:spcAft>
                <a:spcPts val="0"/>
              </a:spcAft>
              <a:buNone/>
            </a:pPr>
            <a:r>
              <a:rPr lang="en"/>
              <a:t>If starting over, more names across different eras would be included to make the conclusions more generalizable, and a non-linear model might better capture the natural rise and fall of name trends</a:t>
            </a:r>
            <a:endParaRPr/>
          </a:p>
          <a:p>
            <a:pPr indent="0" lvl="0" marL="0" rtl="0" algn="l">
              <a:spcBef>
                <a:spcPts val="1200"/>
              </a:spcBef>
              <a:spcAft>
                <a:spcPts val="1200"/>
              </a:spcAft>
              <a:buNone/>
            </a:pPr>
            <a:r>
              <a:t/>
            </a:r>
            <a:endParaRPr/>
          </a:p>
        </p:txBody>
      </p:sp>
      <p:sp>
        <p:nvSpPr>
          <p:cNvPr id="273" name="Google Shape;273;p39"/>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 of Personal Growth </a:t>
            </a:r>
            <a:endParaRPr/>
          </a:p>
        </p:txBody>
      </p:sp>
      <p:sp>
        <p:nvSpPr>
          <p:cNvPr id="279" name="Google Shape;279;p4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At the start of this course, working with real datasets and writing Python scripts felt overwhelming. Debugging file path errors and fixing column name mismatches were frustrating at first but built real problem-solving skills</a:t>
            </a:r>
            <a:endParaRPr/>
          </a:p>
          <a:p>
            <a:pPr indent="0" lvl="0" marL="0" rtl="0" algn="l">
              <a:spcBef>
                <a:spcPts val="1200"/>
              </a:spcBef>
              <a:spcAft>
                <a:spcPts val="0"/>
              </a:spcAft>
              <a:buNone/>
            </a:pPr>
            <a:r>
              <a:rPr lang="en"/>
              <a:t>The biggest growth was learning to not just write code that runs, but to think critically about what the results actually mean and whether they answer the original question</a:t>
            </a:r>
            <a:endParaRPr/>
          </a:p>
          <a:p>
            <a:pPr indent="0" lvl="0" marL="0" rtl="0" algn="l">
              <a:spcBef>
                <a:spcPts val="1200"/>
              </a:spcBef>
              <a:spcAft>
                <a:spcPts val="0"/>
              </a:spcAft>
              <a:buNone/>
            </a:pPr>
            <a:r>
              <a:rPr lang="en"/>
              <a:t>Study habits improved by breaking large problems into smaller steps rather than trying to solve everything at once</a:t>
            </a:r>
            <a:endParaRPr/>
          </a:p>
          <a:p>
            <a:pPr indent="0" lvl="0" marL="0" rtl="0" algn="l">
              <a:spcBef>
                <a:spcPts val="1200"/>
              </a:spcBef>
              <a:spcAft>
                <a:spcPts val="0"/>
              </a:spcAft>
              <a:buNone/>
            </a:pPr>
            <a:r>
              <a:rPr lang="en"/>
              <a:t>The baby names dataset was engaging because it connected to real cultural patterns, making the analysis feel meaningful rather than abstract</a:t>
            </a:r>
            <a:endParaRPr/>
          </a:p>
          <a:p>
            <a:pPr indent="0" lvl="0" marL="0" rtl="0" algn="l">
              <a:spcBef>
                <a:spcPts val="1200"/>
              </a:spcBef>
              <a:spcAft>
                <a:spcPts val="1200"/>
              </a:spcAft>
              <a:buNone/>
            </a:pPr>
            <a:r>
              <a:t/>
            </a:r>
            <a:endParaRPr/>
          </a:p>
        </p:txBody>
      </p:sp>
      <p:sp>
        <p:nvSpPr>
          <p:cNvPr id="280" name="Google Shape;280;p40"/>
          <p:cNvSpPr/>
          <p:nvPr/>
        </p:nvSpPr>
        <p:spPr>
          <a:xfrm>
            <a:off x="121600" y="0"/>
            <a:ext cx="311700" cy="250500"/>
          </a:xfrm>
          <a:prstGeom prst="star4">
            <a:avLst>
              <a:gd fmla="val 125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